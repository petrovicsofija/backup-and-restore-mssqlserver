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4" r:id="rId1"/>
  </p:sldMasterIdLst>
  <p:notesMasterIdLst>
    <p:notesMasterId r:id="rId35"/>
  </p:notesMasterIdLst>
  <p:sldIdLst>
    <p:sldId id="340" r:id="rId2"/>
    <p:sldId id="341" r:id="rId3"/>
    <p:sldId id="260" r:id="rId4"/>
    <p:sldId id="261" r:id="rId5"/>
    <p:sldId id="313" r:id="rId6"/>
    <p:sldId id="342" r:id="rId7"/>
    <p:sldId id="343" r:id="rId8"/>
    <p:sldId id="344" r:id="rId9"/>
    <p:sldId id="345" r:id="rId10"/>
    <p:sldId id="347" r:id="rId11"/>
    <p:sldId id="346" r:id="rId12"/>
    <p:sldId id="348" r:id="rId13"/>
    <p:sldId id="349" r:id="rId14"/>
    <p:sldId id="350" r:id="rId15"/>
    <p:sldId id="351" r:id="rId16"/>
    <p:sldId id="368" r:id="rId17"/>
    <p:sldId id="352" r:id="rId18"/>
    <p:sldId id="353" r:id="rId19"/>
    <p:sldId id="314" r:id="rId20"/>
    <p:sldId id="360" r:id="rId21"/>
    <p:sldId id="354" r:id="rId22"/>
    <p:sldId id="355" r:id="rId23"/>
    <p:sldId id="361" r:id="rId24"/>
    <p:sldId id="358" r:id="rId25"/>
    <p:sldId id="356" r:id="rId26"/>
    <p:sldId id="362" r:id="rId27"/>
    <p:sldId id="363" r:id="rId28"/>
    <p:sldId id="364" r:id="rId29"/>
    <p:sldId id="365" r:id="rId30"/>
    <p:sldId id="366" r:id="rId31"/>
    <p:sldId id="367" r:id="rId32"/>
    <p:sldId id="357" r:id="rId33"/>
    <p:sldId id="359" r:id="rId34"/>
  </p:sldIdLst>
  <p:sldSz cx="9144000" cy="5143500" type="screen16x9"/>
  <p:notesSz cx="6858000" cy="9144000"/>
  <p:embeddedFontLst>
    <p:embeddedFont>
      <p:font typeface="Tajawal" panose="020B0604020202020204" charset="-78"/>
      <p:regular r:id="rId36"/>
      <p:bold r:id="rId37"/>
    </p:embeddedFont>
    <p:embeddedFont>
      <p:font typeface="Voltaire" panose="020B0604020202020204" charset="0"/>
      <p:regular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DC68CF5-FEBB-4902-B55B-27E6DB776AA1}">
  <a:tblStyle styleId="{9DC68CF5-FEBB-4902-B55B-27E6DB776AA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122" autoAdjust="0"/>
    <p:restoredTop sz="87141" autoAdjust="0"/>
  </p:normalViewPr>
  <p:slideViewPr>
    <p:cSldViewPr snapToGrid="0">
      <p:cViewPr>
        <p:scale>
          <a:sx n="80" d="100"/>
          <a:sy n="80" d="100"/>
        </p:scale>
        <p:origin x="1454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2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a336d965fc_1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7" name="Google Shape;517;ga336d965fc_1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490981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a336d965fc_1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7" name="Google Shape;517;ga336d965fc_1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196804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a336d965fc_1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7" name="Google Shape;517;ga336d965fc_1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gac6044513e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2" name="Google Shape;612;gac6044513e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gac6044513e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2" name="Google Shape;612;gac6044513e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Latn-ME" dirty="0"/>
              <a:t>Opisi sliku i </a:t>
            </a:r>
            <a:r>
              <a:rPr lang="sr-Latn-ME" dirty="0" err="1"/>
              <a:t>kazi</a:t>
            </a:r>
            <a:r>
              <a:rPr lang="sr-Latn-ME" dirty="0"/>
              <a:t> </a:t>
            </a:r>
            <a:r>
              <a:rPr lang="sr-Latn-ME" dirty="0" err="1"/>
              <a:t>sta</a:t>
            </a:r>
            <a:r>
              <a:rPr lang="sr-Latn-ME" dirty="0"/>
              <a:t> sve </a:t>
            </a:r>
            <a:r>
              <a:rPr lang="sr-Latn-ME" dirty="0" err="1"/>
              <a:t>iy</a:t>
            </a:r>
            <a:r>
              <a:rPr lang="sr-Latn-ME" dirty="0"/>
              <a:t> transakcionog loga se pamti, ne </a:t>
            </a:r>
            <a:r>
              <a:rPr lang="sr-Latn-ME" dirty="0" err="1"/>
              <a:t>moras</a:t>
            </a:r>
            <a:r>
              <a:rPr lang="sr-Latn-ME" dirty="0"/>
              <a:t> slike dodatne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949031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gac6044513e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2" name="Google Shape;612;gac6044513e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Latn-ME" dirty="0"/>
              <a:t>Kako se kreira </a:t>
            </a:r>
            <a:r>
              <a:rPr lang="sr-Latn-ME" dirty="0" err="1"/>
              <a:t>pomocu</a:t>
            </a:r>
            <a:r>
              <a:rPr lang="sr-Latn-ME" dirty="0"/>
              <a:t> </a:t>
            </a:r>
            <a:r>
              <a:rPr lang="sr-Latn-ME" dirty="0" err="1"/>
              <a:t>Transact</a:t>
            </a:r>
            <a:r>
              <a:rPr lang="sr-Latn-ME" dirty="0"/>
              <a:t> SQL naredbe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03887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gac6044513e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2" name="Google Shape;612;gac6044513e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Latn-ME" dirty="0" err="1"/>
              <a:t>Pregled</a:t>
            </a:r>
            <a:r>
              <a:rPr lang="sr-Latn-ME" dirty="0"/>
              <a:t> </a:t>
            </a:r>
            <a:r>
              <a:rPr lang="sr-Latn-ME" dirty="0" err="1"/>
              <a:t>Backupova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969335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gac6044513e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2" name="Google Shape;612;gac6044513e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Latn-ME" dirty="0"/>
              <a:t>Aktivna transakcija – redni broj </a:t>
            </a:r>
            <a:r>
              <a:rPr lang="sr-Latn-ME" dirty="0" err="1"/>
              <a:t>checkpointa</a:t>
            </a:r>
            <a:r>
              <a:rPr lang="sr-Latn-ME" dirty="0"/>
              <a:t> i </a:t>
            </a:r>
            <a:r>
              <a:rPr lang="sr-Latn-ME" dirty="0" err="1"/>
              <a:t>firstlsn</a:t>
            </a:r>
            <a:r>
              <a:rPr lang="sr-Latn-ME" dirty="0"/>
              <a:t> nisu isti, kao kad nije aktivna transakcija u trenutku kreiranja </a:t>
            </a:r>
            <a:r>
              <a:rPr lang="sr-Latn-ME" dirty="0" err="1"/>
              <a:t>backupa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843925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gac6044513e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2" name="Google Shape;612;gac6044513e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259161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gac6044513e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2" name="Google Shape;612;gac6044513e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Latn-ME" dirty="0"/>
              <a:t>Opisi sliku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969837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gac6044513e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2" name="Google Shape;612;gac6044513e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Latn-ME" dirty="0"/>
              <a:t>Dodaj sliku za </a:t>
            </a:r>
            <a:r>
              <a:rPr lang="sr-Latn-ME" dirty="0" err="1"/>
              <a:t>azuriranje</a:t>
            </a:r>
            <a:r>
              <a:rPr lang="sr-Latn-ME" dirty="0"/>
              <a:t> i </a:t>
            </a:r>
            <a:r>
              <a:rPr lang="sr-Latn-ME" dirty="0" err="1"/>
              <a:t>pisi</a:t>
            </a:r>
            <a:r>
              <a:rPr lang="sr-Latn-ME" dirty="0"/>
              <a:t> brojke </a:t>
            </a:r>
            <a:r>
              <a:rPr lang="sr-Latn-ME" dirty="0" err="1"/>
              <a:t>sta</a:t>
            </a:r>
            <a:r>
              <a:rPr lang="sr-Latn-ME" dirty="0"/>
              <a:t> </a:t>
            </a:r>
            <a:r>
              <a:rPr lang="sr-Latn-ME" dirty="0" err="1"/>
              <a:t>znace</a:t>
            </a:r>
            <a:r>
              <a:rPr lang="sr-Latn-ME" dirty="0"/>
              <a:t> – cak i bez </a:t>
            </a:r>
            <a:r>
              <a:rPr lang="sr-Latn-ME" dirty="0" err="1"/>
              <a:t>promena</a:t>
            </a:r>
            <a:r>
              <a:rPr lang="sr-Latn-ME" dirty="0"/>
              <a:t> </a:t>
            </a:r>
            <a:r>
              <a:rPr lang="sr-Latn-ME" dirty="0" err="1"/>
              <a:t>kazi</a:t>
            </a:r>
            <a:r>
              <a:rPr lang="sr-Latn-ME" dirty="0"/>
              <a:t> </a:t>
            </a:r>
            <a:r>
              <a:rPr lang="sr-Latn-ME" dirty="0" err="1"/>
              <a:t>sta</a:t>
            </a:r>
            <a:r>
              <a:rPr lang="sr-Latn-ME" dirty="0"/>
              <a:t> </a:t>
            </a:r>
            <a:r>
              <a:rPr lang="sr-Latn-ME" dirty="0" err="1"/>
              <a:t>moze</a:t>
            </a:r>
            <a:r>
              <a:rPr lang="sr-Latn-ME" dirty="0"/>
              <a:t> da se pamti i posle sa </a:t>
            </a:r>
            <a:r>
              <a:rPr lang="sr-Latn-ME" dirty="0" err="1"/>
              <a:t>azuriranjima</a:t>
            </a:r>
            <a:r>
              <a:rPr lang="sr-Latn-ME" dirty="0"/>
              <a:t> kopije naravno rastu --- </a:t>
            </a:r>
            <a:r>
              <a:rPr lang="sr-Latn-ME" dirty="0" err="1"/>
              <a:t>kazi</a:t>
            </a:r>
            <a:r>
              <a:rPr lang="sr-Latn-ME" dirty="0"/>
              <a:t> kako se resetuju… bitmape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0517393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gac6044513e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2" name="Google Shape;612;gac6044513e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Latn-ME" dirty="0"/>
              <a:t>Ilustracija </a:t>
            </a:r>
            <a:r>
              <a:rPr lang="sr-Latn-ME" dirty="0" err="1"/>
              <a:t>oslobadjanja</a:t>
            </a:r>
            <a:r>
              <a:rPr lang="sr-Latn-ME" dirty="0"/>
              <a:t> VLF-ova, </a:t>
            </a:r>
            <a:r>
              <a:rPr lang="sr-Latn-ME" dirty="0" err="1"/>
              <a:t>kazi</a:t>
            </a:r>
            <a:r>
              <a:rPr lang="sr-Latn-ME" dirty="0"/>
              <a:t> kako je za Simple Recovery Model, a kako za </a:t>
            </a:r>
            <a:r>
              <a:rPr lang="sr-Latn-ME" dirty="0" err="1"/>
              <a:t>FullRecovery</a:t>
            </a:r>
            <a:r>
              <a:rPr lang="sr-Latn-ME" dirty="0"/>
              <a:t> Model (</a:t>
            </a:r>
            <a:r>
              <a:rPr lang="sr-Latn-ME" dirty="0" err="1"/>
              <a:t>zahteva</a:t>
            </a:r>
            <a:r>
              <a:rPr lang="sr-Latn-ME" dirty="0"/>
              <a:t> backup loga).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9202045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gac6044513e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2" name="Google Shape;612;gac6044513e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Latn-ME" dirty="0"/>
              <a:t>Opisi sliku i </a:t>
            </a:r>
            <a:r>
              <a:rPr lang="sr-Latn-ME" dirty="0" err="1"/>
              <a:t>kazi</a:t>
            </a:r>
            <a:r>
              <a:rPr lang="sr-Latn-ME" dirty="0"/>
              <a:t> </a:t>
            </a:r>
            <a:r>
              <a:rPr lang="sr-Latn-ME" dirty="0" err="1"/>
              <a:t>sta</a:t>
            </a:r>
            <a:r>
              <a:rPr lang="sr-Latn-ME" dirty="0"/>
              <a:t> je problem sa </a:t>
            </a:r>
            <a:r>
              <a:rPr lang="sr-Latn-ME" dirty="0" err="1"/>
              <a:t>promenom</a:t>
            </a:r>
            <a:r>
              <a:rPr lang="sr-Latn-ME" dirty="0"/>
              <a:t> </a:t>
            </a:r>
            <a:r>
              <a:rPr lang="sr-Latn-ME" dirty="0" err="1"/>
              <a:t>read</a:t>
            </a:r>
            <a:r>
              <a:rPr lang="sr-Latn-ME" dirty="0"/>
              <a:t> </a:t>
            </a:r>
            <a:r>
              <a:rPr lang="sr-Latn-ME" dirty="0" err="1"/>
              <a:t>only</a:t>
            </a:r>
            <a:r>
              <a:rPr lang="sr-Latn-ME" dirty="0"/>
              <a:t> u </a:t>
            </a:r>
            <a:r>
              <a:rPr lang="sr-Latn-ME" dirty="0" err="1"/>
              <a:t>read</a:t>
            </a:r>
            <a:r>
              <a:rPr lang="sr-Latn-ME" dirty="0"/>
              <a:t> </a:t>
            </a:r>
            <a:r>
              <a:rPr lang="sr-Latn-ME" dirty="0" err="1"/>
              <a:t>write</a:t>
            </a:r>
            <a:r>
              <a:rPr lang="sr-Latn-ME" dirty="0"/>
              <a:t> eventualno dodaj slajd sa </a:t>
            </a:r>
            <a:r>
              <a:rPr lang="sr-Latn-ME" dirty="0" err="1"/>
              <a:t>primerom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0918469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gac6044513e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2" name="Google Shape;612;gac6044513e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Latn-ME" dirty="0"/>
              <a:t>Brise se data fajl  baze podataka i </a:t>
            </a:r>
            <a:r>
              <a:rPr lang="sr-Latn-ME" dirty="0" err="1"/>
              <a:t>pokusavamo</a:t>
            </a:r>
            <a:r>
              <a:rPr lang="sr-Latn-ME" dirty="0"/>
              <a:t> da vratimo bazu </a:t>
            </a:r>
            <a:r>
              <a:rPr lang="sr-Latn-ME" dirty="0" err="1"/>
              <a:t>online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1870792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gac6044513e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2" name="Google Shape;612;gac6044513e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Latn-ME" dirty="0" err="1"/>
              <a:t>Girnja</a:t>
            </a:r>
            <a:r>
              <a:rPr lang="sr-Latn-ME" dirty="0"/>
              <a:t> slika – fale 2 transakcije ako oporavljamo ovako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Latn-ME" dirty="0"/>
              <a:t>Donja slika – kreira se rezervna kopija loga sve do kvara – bez data fajla!!!! Pomeni </a:t>
            </a:r>
            <a:r>
              <a:rPr lang="sr-Latn-ME" dirty="0" err="1"/>
              <a:t>minimally</a:t>
            </a:r>
            <a:r>
              <a:rPr lang="sr-Latn-ME" dirty="0"/>
              <a:t> </a:t>
            </a:r>
            <a:r>
              <a:rPr lang="sr-Latn-ME" dirty="0" err="1"/>
              <a:t>logged</a:t>
            </a:r>
            <a:r>
              <a:rPr lang="sr-Latn-ME" dirty="0"/>
              <a:t> operacije za ovaj </a:t>
            </a:r>
            <a:r>
              <a:rPr lang="sr-Latn-ME" dirty="0" err="1"/>
              <a:t>slucaj</a:t>
            </a:r>
            <a:r>
              <a:rPr lang="sr-Latn-ME" dirty="0"/>
              <a:t> </a:t>
            </a:r>
            <a:r>
              <a:rPr lang="sr-Latn-ME" dirty="0" err="1"/>
              <a:t>sta</a:t>
            </a:r>
            <a:r>
              <a:rPr lang="sr-Latn-ME" dirty="0"/>
              <a:t> bi bilo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2403626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gac6044513e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2" name="Google Shape;612;gac6044513e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Latn-ME" dirty="0" err="1"/>
              <a:t>Girnja</a:t>
            </a:r>
            <a:r>
              <a:rPr lang="sr-Latn-ME" dirty="0"/>
              <a:t> slika – fale 2 transakcije ako oporavljamo ovako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Latn-ME" dirty="0"/>
              <a:t>Donja slika – kreira se rezervna kopija loga sve do kvara – bez data fajla!!!! Pomeni </a:t>
            </a:r>
            <a:r>
              <a:rPr lang="sr-Latn-ME" dirty="0" err="1"/>
              <a:t>minimally</a:t>
            </a:r>
            <a:r>
              <a:rPr lang="sr-Latn-ME" dirty="0"/>
              <a:t> </a:t>
            </a:r>
            <a:r>
              <a:rPr lang="sr-Latn-ME" dirty="0" err="1"/>
              <a:t>logged</a:t>
            </a:r>
            <a:r>
              <a:rPr lang="sr-Latn-ME" dirty="0"/>
              <a:t> operacije za ovaj </a:t>
            </a:r>
            <a:r>
              <a:rPr lang="sr-Latn-ME" dirty="0" err="1"/>
              <a:t>slucaj</a:t>
            </a:r>
            <a:r>
              <a:rPr lang="sr-Latn-ME" dirty="0"/>
              <a:t> </a:t>
            </a:r>
            <a:r>
              <a:rPr lang="sr-Latn-ME" dirty="0" err="1"/>
              <a:t>sta</a:t>
            </a:r>
            <a:r>
              <a:rPr lang="sr-Latn-ME" dirty="0"/>
              <a:t> bi bilo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5450218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gac6044513e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2" name="Google Shape;612;gac6044513e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Latn-ME" dirty="0"/>
              <a:t>Opisi sliku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3152367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gac6044513e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2" name="Google Shape;612;gac6044513e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Latn-ME" dirty="0"/>
              <a:t>Gornja slika bez COPY ONLY i </a:t>
            </a:r>
            <a:r>
              <a:rPr lang="sr-Latn-ME" dirty="0" err="1"/>
              <a:t>ponistavamo</a:t>
            </a:r>
            <a:r>
              <a:rPr lang="sr-Latn-ME" dirty="0"/>
              <a:t> osnovu za </a:t>
            </a:r>
            <a:r>
              <a:rPr lang="sr-Latn-ME" dirty="0" err="1"/>
              <a:t>dif.kopije</a:t>
            </a:r>
            <a:r>
              <a:rPr lang="sr-Latn-ME" dirty="0"/>
              <a:t> i onda oporavak bude los… Izgubljeni podaci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Latn-ME" dirty="0"/>
              <a:t>Donja slika sa COPY ONLY – ostaje osnova ista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2674860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sr-Latn-R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Cela baza se obnavlja i nedostupna je (</a:t>
            </a:r>
            <a:r>
              <a:rPr lang="sr-Latn-RS" sz="1100" b="0" i="1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offline</a:t>
            </a:r>
            <a:r>
              <a:rPr lang="sr-Latn-R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) tokom operacija vraćanja i oporavka.</a:t>
            </a:r>
          </a:p>
          <a:p>
            <a:pPr lvl="0"/>
            <a:r>
              <a:rPr lang="sr-Latn-R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Data fajlovi ili skup fajlova se obnavlja. Tokom vraćanja fajlova, grupe koje ih sadrže su nedostupne (</a:t>
            </a:r>
            <a:r>
              <a:rPr lang="sr-Latn-RS" sz="1100" b="0" i="1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offline). </a:t>
            </a:r>
            <a:r>
              <a:rPr lang="sr-Latn-R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Svaki pokušaj pristupa nedostupnoj grupi uzrokuje grešku.</a:t>
            </a:r>
          </a:p>
          <a:p>
            <a:pPr lvl="0"/>
            <a:r>
              <a:rPr lang="sr-Latn-R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Pod </a:t>
            </a:r>
            <a:r>
              <a:rPr lang="sr-Latn-RS" sz="1100" b="0" i="1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full/bulk-logged </a:t>
            </a:r>
            <a:r>
              <a:rPr lang="sr-Latn-R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modelima oporavka mogu se vratiti pojedinačne stranice i to bez obzira na broj data fajlova i grupa fajlova.</a:t>
            </a:r>
          </a:p>
          <a:p>
            <a:endParaRPr lang="sr-Latn-RS" dirty="0"/>
          </a:p>
        </p:txBody>
      </p:sp>
    </p:spTree>
    <p:extLst>
      <p:ext uri="{BB962C8B-B14F-4D97-AF65-F5344CB8AC3E}">
        <p14:creationId xmlns:p14="http://schemas.microsoft.com/office/powerpoint/2010/main" val="123281299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RS" dirty="0"/>
              <a:t>Najbolje rešenje je vraćanje potpune rezervne kopije iz 10h, a zatim </a:t>
            </a:r>
            <a:r>
              <a:rPr lang="sr-Latn-RS" dirty="0" err="1"/>
              <a:t>dif</a:t>
            </a:r>
            <a:r>
              <a:rPr lang="sr-Latn-RS" dirty="0"/>
              <a:t> iz 16h i loga 18 i 20h. Rezervna kopija loga iz 20h omogućava nam vraćanje na trenutak iz 18Č59 neposredno pre kvara</a:t>
            </a:r>
          </a:p>
        </p:txBody>
      </p:sp>
    </p:spTree>
    <p:extLst>
      <p:ext uri="{BB962C8B-B14F-4D97-AF65-F5344CB8AC3E}">
        <p14:creationId xmlns:p14="http://schemas.microsoft.com/office/powerpoint/2010/main" val="742401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RS" dirty="0"/>
              <a:t>Sekvenca restore za prethodni slučaj</a:t>
            </a:r>
          </a:p>
        </p:txBody>
      </p:sp>
    </p:spTree>
    <p:extLst>
      <p:ext uri="{BB962C8B-B14F-4D97-AF65-F5344CB8AC3E}">
        <p14:creationId xmlns:p14="http://schemas.microsoft.com/office/powerpoint/2010/main" val="24382510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sr-Latn-RS" dirty="0"/>
              <a:t>Kljucni podaci izbrisani u 19h. Najbolje je obnoviti bazu iz 16h, prvo vratiti full backup iz 10h, zatim </a:t>
            </a:r>
            <a:r>
              <a:rPr lang="sr-Latn-RS" dirty="0" err="1"/>
              <a:t>dif</a:t>
            </a:r>
            <a:r>
              <a:rPr lang="sr-Latn-RS" dirty="0"/>
              <a:t> kopiju iz 16h, ali sve </a:t>
            </a:r>
            <a:r>
              <a:rPr lang="sr-Latn-RS" dirty="0" err="1"/>
              <a:t>izmedju</a:t>
            </a:r>
            <a:r>
              <a:rPr lang="sr-Latn-RS" dirty="0"/>
              <a:t> 16 i 22 </a:t>
            </a:r>
            <a:r>
              <a:rPr lang="sr-Latn-RS" dirty="0" err="1"/>
              <a:t>bice</a:t>
            </a:r>
            <a:r>
              <a:rPr lang="sr-Latn-RS" dirty="0"/>
              <a:t> izgubljeno,,</a:t>
            </a:r>
          </a:p>
        </p:txBody>
      </p:sp>
    </p:spTree>
    <p:extLst>
      <p:ext uri="{BB962C8B-B14F-4D97-AF65-F5344CB8AC3E}">
        <p14:creationId xmlns:p14="http://schemas.microsoft.com/office/powerpoint/2010/main" val="149885299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sr-Latn-RS" dirty="0"/>
              <a:t>Kljucni podaci izbrisani u 19h. Najbolje je obnoviti bazu iz 16h, prvo vratiti full backup iz 10h, zatim </a:t>
            </a:r>
            <a:r>
              <a:rPr lang="sr-Latn-RS" dirty="0" err="1"/>
              <a:t>dif</a:t>
            </a:r>
            <a:r>
              <a:rPr lang="sr-Latn-RS" dirty="0"/>
              <a:t> kopiju iz 16h, ali sve </a:t>
            </a:r>
            <a:r>
              <a:rPr lang="sr-Latn-RS" dirty="0" err="1"/>
              <a:t>izmedju</a:t>
            </a:r>
            <a:r>
              <a:rPr lang="sr-Latn-RS" dirty="0"/>
              <a:t> 16 i 22 </a:t>
            </a:r>
            <a:r>
              <a:rPr lang="sr-Latn-RS" dirty="0" err="1"/>
              <a:t>bice</a:t>
            </a:r>
            <a:r>
              <a:rPr lang="sr-Latn-RS" dirty="0"/>
              <a:t> izgubljeno,,</a:t>
            </a:r>
          </a:p>
        </p:txBody>
      </p:sp>
    </p:spTree>
    <p:extLst>
      <p:ext uri="{BB962C8B-B14F-4D97-AF65-F5344CB8AC3E}">
        <p14:creationId xmlns:p14="http://schemas.microsoft.com/office/powerpoint/2010/main" val="115439778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RS" dirty="0"/>
              <a:t>Kvar se desio u 15h pre </a:t>
            </a:r>
            <a:r>
              <a:rPr lang="sr-Latn-RS" dirty="0" err="1"/>
              <a:t>minimally</a:t>
            </a:r>
            <a:r>
              <a:rPr lang="sr-Latn-RS" dirty="0"/>
              <a:t> </a:t>
            </a:r>
            <a:r>
              <a:rPr lang="sr-Latn-RS" dirty="0" err="1"/>
              <a:t>logged</a:t>
            </a:r>
            <a:r>
              <a:rPr lang="sr-Latn-RS" dirty="0"/>
              <a:t> operacije. Sledeća kopija loga iz 16h </a:t>
            </a:r>
            <a:r>
              <a:rPr lang="sr-Latn-RS" dirty="0" err="1"/>
              <a:t>sadrzi</a:t>
            </a:r>
            <a:r>
              <a:rPr lang="sr-Latn-RS" dirty="0"/>
              <a:t> promene, sto znaci da je </a:t>
            </a:r>
            <a:r>
              <a:rPr lang="sr-Latn-RS" dirty="0" err="1"/>
              <a:t>point</a:t>
            </a:r>
            <a:r>
              <a:rPr lang="sr-Latn-RS" dirty="0"/>
              <a:t> in time oporavak </a:t>
            </a:r>
            <a:r>
              <a:rPr lang="sr-Latn-RS" dirty="0" err="1"/>
              <a:t>moguc</a:t>
            </a:r>
            <a:r>
              <a:rPr lang="sr-Latn-RS" dirty="0"/>
              <a:t> samo do prethodne rezervne kopije transakcionog loga (14h). Ukoliko se pokusa sa </a:t>
            </a:r>
            <a:r>
              <a:rPr lang="sr-Latn-RS" dirty="0" err="1"/>
              <a:t>vbracanjem</a:t>
            </a:r>
            <a:r>
              <a:rPr lang="sr-Latn-RS" dirty="0"/>
              <a:t> baze iz nekog kasnijeg trenutka, dolazi do </a:t>
            </a:r>
            <a:r>
              <a:rPr lang="sr-Latn-RS" dirty="0" err="1"/>
              <a:t>greske</a:t>
            </a:r>
            <a:endParaRPr lang="sr-Latn-RS" dirty="0"/>
          </a:p>
        </p:txBody>
      </p:sp>
    </p:spTree>
    <p:extLst>
      <p:ext uri="{BB962C8B-B14F-4D97-AF65-F5344CB8AC3E}">
        <p14:creationId xmlns:p14="http://schemas.microsoft.com/office/powerpoint/2010/main" val="348810663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RS" dirty="0"/>
              <a:t>Najbolje </a:t>
            </a:r>
            <a:r>
              <a:rPr lang="sr-Latn-RS" dirty="0" err="1"/>
              <a:t>resenje</a:t>
            </a:r>
            <a:r>
              <a:rPr lang="sr-Latn-RS" dirty="0"/>
              <a:t> je </a:t>
            </a:r>
            <a:r>
              <a:rPr lang="sr-Latn-RS" dirty="0" err="1"/>
              <a:t>vracanje</a:t>
            </a:r>
            <a:r>
              <a:rPr lang="sr-Latn-RS" dirty="0"/>
              <a:t> baze na stanje </a:t>
            </a:r>
            <a:r>
              <a:rPr lang="sr-Latn-RS" dirty="0" err="1"/>
              <a:t>it</a:t>
            </a:r>
            <a:r>
              <a:rPr lang="sr-Latn-RS" dirty="0"/>
              <a:t> trenutka 14h, sve ostalo </a:t>
            </a:r>
            <a:r>
              <a:rPr lang="sr-Latn-RS" dirty="0" err="1"/>
              <a:t>bice</a:t>
            </a:r>
            <a:r>
              <a:rPr lang="sr-Latn-RS" dirty="0"/>
              <a:t> izgubljeno</a:t>
            </a:r>
          </a:p>
        </p:txBody>
      </p:sp>
    </p:spTree>
    <p:extLst>
      <p:ext uri="{BB962C8B-B14F-4D97-AF65-F5344CB8AC3E}">
        <p14:creationId xmlns:p14="http://schemas.microsoft.com/office/powerpoint/2010/main" val="375505973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RS" dirty="0"/>
              <a:t>Najbolje </a:t>
            </a:r>
            <a:r>
              <a:rPr lang="sr-Latn-RS" dirty="0" err="1"/>
              <a:t>resenje</a:t>
            </a:r>
            <a:r>
              <a:rPr lang="sr-Latn-RS" dirty="0"/>
              <a:t> je </a:t>
            </a:r>
            <a:r>
              <a:rPr lang="sr-Latn-RS" dirty="0" err="1"/>
              <a:t>vracanje</a:t>
            </a:r>
            <a:r>
              <a:rPr lang="sr-Latn-RS" dirty="0"/>
              <a:t> baze na stanje </a:t>
            </a:r>
            <a:r>
              <a:rPr lang="sr-Latn-RS" dirty="0" err="1"/>
              <a:t>it</a:t>
            </a:r>
            <a:r>
              <a:rPr lang="sr-Latn-RS" dirty="0"/>
              <a:t> trenutka 14h, sve ostalo </a:t>
            </a:r>
            <a:r>
              <a:rPr lang="sr-Latn-RS" dirty="0" err="1"/>
              <a:t>bice</a:t>
            </a:r>
            <a:r>
              <a:rPr lang="sr-Latn-RS" dirty="0"/>
              <a:t> izgubljeno</a:t>
            </a:r>
          </a:p>
        </p:txBody>
      </p:sp>
    </p:spTree>
    <p:extLst>
      <p:ext uri="{BB962C8B-B14F-4D97-AF65-F5344CB8AC3E}">
        <p14:creationId xmlns:p14="http://schemas.microsoft.com/office/powerpoint/2010/main" val="402028825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RS" dirty="0"/>
              <a:t>Najbolje </a:t>
            </a:r>
            <a:r>
              <a:rPr lang="sr-Latn-RS" dirty="0" err="1"/>
              <a:t>resenje</a:t>
            </a:r>
            <a:r>
              <a:rPr lang="sr-Latn-RS" dirty="0"/>
              <a:t> je </a:t>
            </a:r>
            <a:r>
              <a:rPr lang="sr-Latn-RS" dirty="0" err="1"/>
              <a:t>vracanje</a:t>
            </a:r>
            <a:r>
              <a:rPr lang="sr-Latn-RS" dirty="0"/>
              <a:t> baze na stanje </a:t>
            </a:r>
            <a:r>
              <a:rPr lang="sr-Latn-RS" dirty="0" err="1"/>
              <a:t>it</a:t>
            </a:r>
            <a:r>
              <a:rPr lang="sr-Latn-RS" dirty="0"/>
              <a:t> trenutka 14h, sve ostalo </a:t>
            </a:r>
            <a:r>
              <a:rPr lang="sr-Latn-RS" dirty="0" err="1"/>
              <a:t>bice</a:t>
            </a:r>
            <a:r>
              <a:rPr lang="sr-Latn-RS" dirty="0"/>
              <a:t> izgubljeno</a:t>
            </a:r>
          </a:p>
        </p:txBody>
      </p:sp>
    </p:spTree>
    <p:extLst>
      <p:ext uri="{BB962C8B-B14F-4D97-AF65-F5344CB8AC3E}">
        <p14:creationId xmlns:p14="http://schemas.microsoft.com/office/powerpoint/2010/main" val="131229817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RS" dirty="0"/>
              <a:t>Najbolje </a:t>
            </a:r>
            <a:r>
              <a:rPr lang="sr-Latn-RS" dirty="0" err="1"/>
              <a:t>resenje</a:t>
            </a:r>
            <a:r>
              <a:rPr lang="sr-Latn-RS" dirty="0"/>
              <a:t> je </a:t>
            </a:r>
            <a:r>
              <a:rPr lang="sr-Latn-RS" dirty="0" err="1"/>
              <a:t>vracanje</a:t>
            </a:r>
            <a:r>
              <a:rPr lang="sr-Latn-RS" dirty="0"/>
              <a:t> baze na stanje </a:t>
            </a:r>
            <a:r>
              <a:rPr lang="sr-Latn-RS" dirty="0" err="1"/>
              <a:t>it</a:t>
            </a:r>
            <a:r>
              <a:rPr lang="sr-Latn-RS" dirty="0"/>
              <a:t> trenutka 14h, sve ostalo </a:t>
            </a:r>
            <a:r>
              <a:rPr lang="sr-Latn-RS" dirty="0" err="1"/>
              <a:t>bice</a:t>
            </a:r>
            <a:r>
              <a:rPr lang="sr-Latn-RS" dirty="0"/>
              <a:t> izgubljeno</a:t>
            </a:r>
          </a:p>
        </p:txBody>
      </p:sp>
    </p:spTree>
    <p:extLst>
      <p:ext uri="{BB962C8B-B14F-4D97-AF65-F5344CB8AC3E}">
        <p14:creationId xmlns:p14="http://schemas.microsoft.com/office/powerpoint/2010/main" val="64099270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RS" dirty="0"/>
              <a:t>Najbolje </a:t>
            </a:r>
            <a:r>
              <a:rPr lang="sr-Latn-RS" dirty="0" err="1"/>
              <a:t>resenje</a:t>
            </a:r>
            <a:r>
              <a:rPr lang="sr-Latn-RS" dirty="0"/>
              <a:t> je </a:t>
            </a:r>
            <a:r>
              <a:rPr lang="sr-Latn-RS" dirty="0" err="1"/>
              <a:t>vracanje</a:t>
            </a:r>
            <a:r>
              <a:rPr lang="sr-Latn-RS" dirty="0"/>
              <a:t> baze na stanje </a:t>
            </a:r>
            <a:r>
              <a:rPr lang="sr-Latn-RS" dirty="0" err="1"/>
              <a:t>it</a:t>
            </a:r>
            <a:r>
              <a:rPr lang="sr-Latn-RS" dirty="0"/>
              <a:t> trenutka 14h, sve ostalo </a:t>
            </a:r>
            <a:r>
              <a:rPr lang="sr-Latn-RS" dirty="0" err="1"/>
              <a:t>bice</a:t>
            </a:r>
            <a:r>
              <a:rPr lang="sr-Latn-RS" dirty="0"/>
              <a:t> izgubljeno</a:t>
            </a:r>
          </a:p>
        </p:txBody>
      </p:sp>
    </p:spTree>
    <p:extLst>
      <p:ext uri="{BB962C8B-B14F-4D97-AF65-F5344CB8AC3E}">
        <p14:creationId xmlns:p14="http://schemas.microsoft.com/office/powerpoint/2010/main" val="406952382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RS" dirty="0"/>
              <a:t>Najbolje </a:t>
            </a:r>
            <a:r>
              <a:rPr lang="sr-Latn-RS" dirty="0" err="1"/>
              <a:t>resenje</a:t>
            </a:r>
            <a:r>
              <a:rPr lang="sr-Latn-RS" dirty="0"/>
              <a:t> je </a:t>
            </a:r>
            <a:r>
              <a:rPr lang="sr-Latn-RS" dirty="0" err="1"/>
              <a:t>vracanje</a:t>
            </a:r>
            <a:r>
              <a:rPr lang="sr-Latn-RS" dirty="0"/>
              <a:t> baze na stanje </a:t>
            </a:r>
            <a:r>
              <a:rPr lang="sr-Latn-RS" dirty="0" err="1"/>
              <a:t>it</a:t>
            </a:r>
            <a:r>
              <a:rPr lang="sr-Latn-RS" dirty="0"/>
              <a:t> trenutka 14h, sve ostalo </a:t>
            </a:r>
            <a:r>
              <a:rPr lang="sr-Latn-RS" dirty="0" err="1"/>
              <a:t>bice</a:t>
            </a:r>
            <a:r>
              <a:rPr lang="sr-Latn-RS" dirty="0"/>
              <a:t> izgubljeno</a:t>
            </a:r>
          </a:p>
        </p:txBody>
      </p:sp>
    </p:spTree>
    <p:extLst>
      <p:ext uri="{BB962C8B-B14F-4D97-AF65-F5344CB8AC3E}">
        <p14:creationId xmlns:p14="http://schemas.microsoft.com/office/powerpoint/2010/main" val="347847406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RS" dirty="0"/>
              <a:t>Najbolje </a:t>
            </a:r>
            <a:r>
              <a:rPr lang="sr-Latn-RS" dirty="0" err="1"/>
              <a:t>resenje</a:t>
            </a:r>
            <a:r>
              <a:rPr lang="sr-Latn-RS" dirty="0"/>
              <a:t> je </a:t>
            </a:r>
            <a:r>
              <a:rPr lang="sr-Latn-RS" dirty="0" err="1"/>
              <a:t>vracanje</a:t>
            </a:r>
            <a:r>
              <a:rPr lang="sr-Latn-RS" dirty="0"/>
              <a:t> baze na stanje </a:t>
            </a:r>
            <a:r>
              <a:rPr lang="sr-Latn-RS" dirty="0" err="1"/>
              <a:t>it</a:t>
            </a:r>
            <a:r>
              <a:rPr lang="sr-Latn-RS" dirty="0"/>
              <a:t> trenutka 14h, sve ostalo </a:t>
            </a:r>
            <a:r>
              <a:rPr lang="sr-Latn-RS" dirty="0" err="1"/>
              <a:t>bice</a:t>
            </a:r>
            <a:r>
              <a:rPr lang="sr-Latn-RS" dirty="0"/>
              <a:t> izgubljeno</a:t>
            </a:r>
          </a:p>
        </p:txBody>
      </p:sp>
    </p:spTree>
    <p:extLst>
      <p:ext uri="{BB962C8B-B14F-4D97-AF65-F5344CB8AC3E}">
        <p14:creationId xmlns:p14="http://schemas.microsoft.com/office/powerpoint/2010/main" val="159073964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r-Latn-RS" dirty="0"/>
          </a:p>
        </p:txBody>
      </p:sp>
    </p:spTree>
    <p:extLst>
      <p:ext uri="{BB962C8B-B14F-4D97-AF65-F5344CB8AC3E}">
        <p14:creationId xmlns:p14="http://schemas.microsoft.com/office/powerpoint/2010/main" val="361393913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1" name="Google Shape;1441;gac6044513e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2" name="Google Shape;1442;gac6044513e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304867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aticon.com/" TargetMode="External"/><Relationship Id="rId2" Type="http://schemas.openxmlformats.org/officeDocument/2006/relationships/hyperlink" Target="https://slidesgo.com/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s://www.freepik.com/" TargetMode="Externa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5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5"/>
          <p:cNvSpPr txBox="1">
            <a:spLocks noGrp="1"/>
          </p:cNvSpPr>
          <p:nvPr>
            <p:ph type="title" idx="2"/>
          </p:nvPr>
        </p:nvSpPr>
        <p:spPr>
          <a:xfrm>
            <a:off x="1475076" y="2626125"/>
            <a:ext cx="2865300" cy="44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Tajawal"/>
                <a:ea typeface="Tajawal"/>
                <a:cs typeface="Tajawal"/>
                <a:sym typeface="Tajawal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Tajawal"/>
                <a:ea typeface="Tajawal"/>
                <a:cs typeface="Tajawal"/>
                <a:sym typeface="Tajawal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Tajawal"/>
                <a:ea typeface="Tajawal"/>
                <a:cs typeface="Tajawal"/>
                <a:sym typeface="Tajawal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Tajawal"/>
                <a:ea typeface="Tajawal"/>
                <a:cs typeface="Tajawal"/>
                <a:sym typeface="Tajawal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Tajawal"/>
                <a:ea typeface="Tajawal"/>
                <a:cs typeface="Tajawal"/>
                <a:sym typeface="Tajawal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Tajawal"/>
                <a:ea typeface="Tajawal"/>
                <a:cs typeface="Tajawal"/>
                <a:sym typeface="Tajawal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Tajawal"/>
                <a:ea typeface="Tajawal"/>
                <a:cs typeface="Tajawal"/>
                <a:sym typeface="Tajawal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Tajawal"/>
                <a:ea typeface="Tajawal"/>
                <a:cs typeface="Tajawal"/>
                <a:sym typeface="Tajawal"/>
              </a:defRPr>
            </a:lvl9pPr>
          </a:lstStyle>
          <a:p>
            <a:endParaRPr/>
          </a:p>
        </p:txBody>
      </p:sp>
      <p:sp>
        <p:nvSpPr>
          <p:cNvPr id="71" name="Google Shape;71;p5"/>
          <p:cNvSpPr txBox="1">
            <a:spLocks noGrp="1"/>
          </p:cNvSpPr>
          <p:nvPr>
            <p:ph type="title" idx="3"/>
          </p:nvPr>
        </p:nvSpPr>
        <p:spPr>
          <a:xfrm>
            <a:off x="4990500" y="2626125"/>
            <a:ext cx="2865300" cy="44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Tajawal"/>
                <a:ea typeface="Tajawal"/>
                <a:cs typeface="Tajawal"/>
                <a:sym typeface="Tajaw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Tajawal"/>
                <a:ea typeface="Tajawal"/>
                <a:cs typeface="Tajawal"/>
                <a:sym typeface="Tajaw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Tajawal"/>
                <a:ea typeface="Tajawal"/>
                <a:cs typeface="Tajawal"/>
                <a:sym typeface="Tajaw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Tajawal"/>
                <a:ea typeface="Tajawal"/>
                <a:cs typeface="Tajawal"/>
                <a:sym typeface="Tajaw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Tajawal"/>
                <a:ea typeface="Tajawal"/>
                <a:cs typeface="Tajawal"/>
                <a:sym typeface="Tajaw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Tajawal"/>
                <a:ea typeface="Tajawal"/>
                <a:cs typeface="Tajawal"/>
                <a:sym typeface="Tajaw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Tajawal"/>
                <a:ea typeface="Tajawal"/>
                <a:cs typeface="Tajawal"/>
                <a:sym typeface="Tajaw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Tajawal"/>
                <a:ea typeface="Tajawal"/>
                <a:cs typeface="Tajawal"/>
                <a:sym typeface="Tajawal"/>
              </a:defRPr>
            </a:lvl9pPr>
          </a:lstStyle>
          <a:p>
            <a:endParaRPr/>
          </a:p>
        </p:txBody>
      </p:sp>
      <p:grpSp>
        <p:nvGrpSpPr>
          <p:cNvPr id="72" name="Google Shape;72;p5"/>
          <p:cNvGrpSpPr/>
          <p:nvPr/>
        </p:nvGrpSpPr>
        <p:grpSpPr>
          <a:xfrm rot="10800000">
            <a:off x="8028963" y="-859575"/>
            <a:ext cx="803615" cy="2608950"/>
            <a:chOff x="157913" y="3349500"/>
            <a:chExt cx="803615" cy="2608950"/>
          </a:xfrm>
        </p:grpSpPr>
        <p:sp>
          <p:nvSpPr>
            <p:cNvPr id="73" name="Google Shape;73;p5"/>
            <p:cNvSpPr/>
            <p:nvPr/>
          </p:nvSpPr>
          <p:spPr>
            <a:xfrm>
              <a:off x="771928" y="3771875"/>
              <a:ext cx="189600" cy="18801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5"/>
            <p:cNvSpPr/>
            <p:nvPr/>
          </p:nvSpPr>
          <p:spPr>
            <a:xfrm>
              <a:off x="464913" y="4078350"/>
              <a:ext cx="189600" cy="18801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5"/>
            <p:cNvSpPr/>
            <p:nvPr/>
          </p:nvSpPr>
          <p:spPr>
            <a:xfrm>
              <a:off x="157913" y="3349500"/>
              <a:ext cx="189600" cy="18801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6" name="Google Shape;76;p5"/>
          <p:cNvSpPr txBox="1">
            <a:spLocks noGrp="1"/>
          </p:cNvSpPr>
          <p:nvPr>
            <p:ph type="subTitle" idx="1"/>
          </p:nvPr>
        </p:nvSpPr>
        <p:spPr>
          <a:xfrm>
            <a:off x="1475075" y="3118125"/>
            <a:ext cx="2865300" cy="119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5"/>
          <p:cNvSpPr txBox="1">
            <a:spLocks noGrp="1"/>
          </p:cNvSpPr>
          <p:nvPr>
            <p:ph type="subTitle" idx="4"/>
          </p:nvPr>
        </p:nvSpPr>
        <p:spPr>
          <a:xfrm>
            <a:off x="4990500" y="3118125"/>
            <a:ext cx="2865300" cy="119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9"/>
          <p:cNvSpPr txBox="1">
            <a:spLocks noGrp="1"/>
          </p:cNvSpPr>
          <p:nvPr>
            <p:ph type="title"/>
          </p:nvPr>
        </p:nvSpPr>
        <p:spPr>
          <a:xfrm>
            <a:off x="713425" y="1185637"/>
            <a:ext cx="3876000" cy="83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03" name="Google Shape;103;p9"/>
          <p:cNvSpPr txBox="1">
            <a:spLocks noGrp="1"/>
          </p:cNvSpPr>
          <p:nvPr>
            <p:ph type="subTitle" idx="1"/>
          </p:nvPr>
        </p:nvSpPr>
        <p:spPr>
          <a:xfrm>
            <a:off x="713225" y="2488789"/>
            <a:ext cx="3876000" cy="164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grpSp>
        <p:nvGrpSpPr>
          <p:cNvPr id="104" name="Google Shape;104;p9"/>
          <p:cNvGrpSpPr/>
          <p:nvPr/>
        </p:nvGrpSpPr>
        <p:grpSpPr>
          <a:xfrm rot="10800000">
            <a:off x="8028913" y="3349500"/>
            <a:ext cx="803615" cy="2608950"/>
            <a:chOff x="157913" y="3349500"/>
            <a:chExt cx="803615" cy="2608950"/>
          </a:xfrm>
        </p:grpSpPr>
        <p:sp>
          <p:nvSpPr>
            <p:cNvPr id="105" name="Google Shape;105;p9"/>
            <p:cNvSpPr/>
            <p:nvPr/>
          </p:nvSpPr>
          <p:spPr>
            <a:xfrm>
              <a:off x="771928" y="3771875"/>
              <a:ext cx="189600" cy="18801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9"/>
            <p:cNvSpPr/>
            <p:nvPr/>
          </p:nvSpPr>
          <p:spPr>
            <a:xfrm>
              <a:off x="464913" y="4078350"/>
              <a:ext cx="189600" cy="18801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9"/>
            <p:cNvSpPr/>
            <p:nvPr/>
          </p:nvSpPr>
          <p:spPr>
            <a:xfrm>
              <a:off x="157913" y="3349500"/>
              <a:ext cx="189600" cy="18801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1"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32"/>
          <p:cNvSpPr txBox="1">
            <a:spLocks noGrp="1"/>
          </p:cNvSpPr>
          <p:nvPr>
            <p:ph type="title"/>
          </p:nvPr>
        </p:nvSpPr>
        <p:spPr>
          <a:xfrm>
            <a:off x="2837250" y="539500"/>
            <a:ext cx="3469500" cy="95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70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55" name="Google Shape;355;p32"/>
          <p:cNvSpPr txBox="1">
            <a:spLocks noGrp="1"/>
          </p:cNvSpPr>
          <p:nvPr>
            <p:ph type="subTitle" idx="1"/>
          </p:nvPr>
        </p:nvSpPr>
        <p:spPr>
          <a:xfrm>
            <a:off x="2837250" y="1727700"/>
            <a:ext cx="3469500" cy="119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356" name="Google Shape;356;p32"/>
          <p:cNvSpPr txBox="1"/>
          <p:nvPr/>
        </p:nvSpPr>
        <p:spPr>
          <a:xfrm>
            <a:off x="2876250" y="3832700"/>
            <a:ext cx="3391500" cy="5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rPr>
              <a:t>CREDITS</a:t>
            </a:r>
            <a:r>
              <a:rPr lang="en" sz="1200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rPr>
              <a:t>: This presentation template was created by </a:t>
            </a:r>
            <a:r>
              <a:rPr lang="en" sz="1200" b="1">
                <a:solidFill>
                  <a:schemeClr val="lt2"/>
                </a:solidFill>
                <a:uFill>
                  <a:noFill/>
                </a:uFill>
                <a:latin typeface="Tajawal"/>
                <a:ea typeface="Tajawal"/>
                <a:cs typeface="Tajawal"/>
                <a:sym typeface="Tajawal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 b="1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rPr>
              <a:t>,</a:t>
            </a:r>
            <a:r>
              <a:rPr lang="en" sz="1200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rPr>
              <a:t> including icons by </a:t>
            </a:r>
            <a:r>
              <a:rPr lang="en" sz="1200" b="1">
                <a:solidFill>
                  <a:schemeClr val="lt2"/>
                </a:solidFill>
                <a:uFill>
                  <a:noFill/>
                </a:uFill>
                <a:latin typeface="Tajawal"/>
                <a:ea typeface="Tajawal"/>
                <a:cs typeface="Tajawal"/>
                <a:sym typeface="Tajaw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rPr>
              <a:t> and infographics &amp; images by </a:t>
            </a:r>
            <a:r>
              <a:rPr lang="en" sz="1200" b="1">
                <a:solidFill>
                  <a:schemeClr val="lt2"/>
                </a:solidFill>
                <a:uFill>
                  <a:noFill/>
                </a:uFill>
                <a:latin typeface="Tajawal"/>
                <a:ea typeface="Tajawal"/>
                <a:cs typeface="Tajawal"/>
                <a:sym typeface="Tajawal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200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rPr>
              <a:t>.</a:t>
            </a:r>
            <a:endParaRPr sz="1200">
              <a:solidFill>
                <a:schemeClr val="lt2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grpSp>
        <p:nvGrpSpPr>
          <p:cNvPr id="357" name="Google Shape;357;p32"/>
          <p:cNvGrpSpPr/>
          <p:nvPr/>
        </p:nvGrpSpPr>
        <p:grpSpPr>
          <a:xfrm>
            <a:off x="311413" y="3349500"/>
            <a:ext cx="803615" cy="2608950"/>
            <a:chOff x="157913" y="3349500"/>
            <a:chExt cx="803615" cy="2608950"/>
          </a:xfrm>
        </p:grpSpPr>
        <p:sp>
          <p:nvSpPr>
            <p:cNvPr id="358" name="Google Shape;358;p32"/>
            <p:cNvSpPr/>
            <p:nvPr/>
          </p:nvSpPr>
          <p:spPr>
            <a:xfrm>
              <a:off x="771928" y="3771875"/>
              <a:ext cx="189600" cy="18801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32"/>
            <p:cNvSpPr/>
            <p:nvPr/>
          </p:nvSpPr>
          <p:spPr>
            <a:xfrm>
              <a:off x="464913" y="4078350"/>
              <a:ext cx="189600" cy="18801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32"/>
            <p:cNvSpPr/>
            <p:nvPr/>
          </p:nvSpPr>
          <p:spPr>
            <a:xfrm>
              <a:off x="157913" y="3349500"/>
              <a:ext cx="189600" cy="18801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1" name="Google Shape;361;p32"/>
          <p:cNvGrpSpPr/>
          <p:nvPr/>
        </p:nvGrpSpPr>
        <p:grpSpPr>
          <a:xfrm rot="10800000">
            <a:off x="8028963" y="-857740"/>
            <a:ext cx="803615" cy="2608950"/>
            <a:chOff x="157913" y="3349500"/>
            <a:chExt cx="803615" cy="2608950"/>
          </a:xfrm>
        </p:grpSpPr>
        <p:sp>
          <p:nvSpPr>
            <p:cNvPr id="362" name="Google Shape;362;p32"/>
            <p:cNvSpPr/>
            <p:nvPr/>
          </p:nvSpPr>
          <p:spPr>
            <a:xfrm>
              <a:off x="771928" y="3771875"/>
              <a:ext cx="189600" cy="18801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32"/>
            <p:cNvSpPr/>
            <p:nvPr/>
          </p:nvSpPr>
          <p:spPr>
            <a:xfrm>
              <a:off x="464913" y="4078350"/>
              <a:ext cx="189600" cy="18801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32"/>
            <p:cNvSpPr/>
            <p:nvPr/>
          </p:nvSpPr>
          <p:spPr>
            <a:xfrm>
              <a:off x="157913" y="3349500"/>
              <a:ext cx="189600" cy="18801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9_1"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7" name="Google Shape;367;p34"/>
          <p:cNvGrpSpPr/>
          <p:nvPr/>
        </p:nvGrpSpPr>
        <p:grpSpPr>
          <a:xfrm rot="10800000">
            <a:off x="8028906" y="-108067"/>
            <a:ext cx="803615" cy="5337604"/>
            <a:chOff x="157913" y="4078350"/>
            <a:chExt cx="803615" cy="1880100"/>
          </a:xfrm>
        </p:grpSpPr>
        <p:sp>
          <p:nvSpPr>
            <p:cNvPr id="368" name="Google Shape;368;p34"/>
            <p:cNvSpPr/>
            <p:nvPr/>
          </p:nvSpPr>
          <p:spPr>
            <a:xfrm>
              <a:off x="771928" y="4078350"/>
              <a:ext cx="189600" cy="18801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34"/>
            <p:cNvSpPr/>
            <p:nvPr/>
          </p:nvSpPr>
          <p:spPr>
            <a:xfrm>
              <a:off x="464913" y="4078350"/>
              <a:ext cx="189600" cy="18801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34"/>
            <p:cNvSpPr/>
            <p:nvPr/>
          </p:nvSpPr>
          <p:spPr>
            <a:xfrm>
              <a:off x="157913" y="4078350"/>
              <a:ext cx="189600" cy="18801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CUSTOM_9_1_1"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2" name="Google Shape;372;p35"/>
          <p:cNvGrpSpPr/>
          <p:nvPr/>
        </p:nvGrpSpPr>
        <p:grpSpPr>
          <a:xfrm rot="10800000">
            <a:off x="8028906" y="1809811"/>
            <a:ext cx="803615" cy="4758203"/>
            <a:chOff x="157913" y="3349500"/>
            <a:chExt cx="803615" cy="2608950"/>
          </a:xfrm>
        </p:grpSpPr>
        <p:sp>
          <p:nvSpPr>
            <p:cNvPr id="373" name="Google Shape;373;p35"/>
            <p:cNvSpPr/>
            <p:nvPr/>
          </p:nvSpPr>
          <p:spPr>
            <a:xfrm>
              <a:off x="771928" y="3771875"/>
              <a:ext cx="189600" cy="18801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35"/>
            <p:cNvSpPr/>
            <p:nvPr/>
          </p:nvSpPr>
          <p:spPr>
            <a:xfrm>
              <a:off x="464913" y="4078350"/>
              <a:ext cx="189600" cy="18801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35"/>
            <p:cNvSpPr/>
            <p:nvPr/>
          </p:nvSpPr>
          <p:spPr>
            <a:xfrm>
              <a:off x="157913" y="3349500"/>
              <a:ext cx="189600" cy="18801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6" name="Google Shape;376;p35"/>
          <p:cNvGrpSpPr/>
          <p:nvPr/>
        </p:nvGrpSpPr>
        <p:grpSpPr>
          <a:xfrm>
            <a:off x="311419" y="-1493672"/>
            <a:ext cx="803615" cy="4758203"/>
            <a:chOff x="157913" y="3349500"/>
            <a:chExt cx="803615" cy="2608950"/>
          </a:xfrm>
        </p:grpSpPr>
        <p:sp>
          <p:nvSpPr>
            <p:cNvPr id="377" name="Google Shape;377;p35"/>
            <p:cNvSpPr/>
            <p:nvPr/>
          </p:nvSpPr>
          <p:spPr>
            <a:xfrm>
              <a:off x="771928" y="3771875"/>
              <a:ext cx="189600" cy="18801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35"/>
            <p:cNvSpPr/>
            <p:nvPr/>
          </p:nvSpPr>
          <p:spPr>
            <a:xfrm>
              <a:off x="464913" y="4078350"/>
              <a:ext cx="189600" cy="18801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35"/>
            <p:cNvSpPr/>
            <p:nvPr/>
          </p:nvSpPr>
          <p:spPr>
            <a:xfrm>
              <a:off x="157913" y="3349500"/>
              <a:ext cx="189600" cy="18801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4">
  <p:cSld name="CUSTOM_9_1_1_1"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1" name="Google Shape;381;p36"/>
          <p:cNvGrpSpPr/>
          <p:nvPr/>
        </p:nvGrpSpPr>
        <p:grpSpPr>
          <a:xfrm rot="10800000">
            <a:off x="8028913" y="3349500"/>
            <a:ext cx="803615" cy="2608950"/>
            <a:chOff x="157913" y="3349500"/>
            <a:chExt cx="803615" cy="2608950"/>
          </a:xfrm>
        </p:grpSpPr>
        <p:sp>
          <p:nvSpPr>
            <p:cNvPr id="382" name="Google Shape;382;p36"/>
            <p:cNvSpPr/>
            <p:nvPr/>
          </p:nvSpPr>
          <p:spPr>
            <a:xfrm>
              <a:off x="771928" y="3771875"/>
              <a:ext cx="189600" cy="18801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36"/>
            <p:cNvSpPr/>
            <p:nvPr/>
          </p:nvSpPr>
          <p:spPr>
            <a:xfrm>
              <a:off x="464913" y="4078350"/>
              <a:ext cx="189600" cy="18801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36"/>
            <p:cNvSpPr/>
            <p:nvPr/>
          </p:nvSpPr>
          <p:spPr>
            <a:xfrm>
              <a:off x="157913" y="3349500"/>
              <a:ext cx="189600" cy="18801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5" name="Google Shape;385;p36"/>
          <p:cNvGrpSpPr/>
          <p:nvPr/>
        </p:nvGrpSpPr>
        <p:grpSpPr>
          <a:xfrm rot="10800000" flipH="1">
            <a:off x="311413" y="3387325"/>
            <a:ext cx="803615" cy="2608950"/>
            <a:chOff x="157913" y="3349500"/>
            <a:chExt cx="803615" cy="2608950"/>
          </a:xfrm>
        </p:grpSpPr>
        <p:sp>
          <p:nvSpPr>
            <p:cNvPr id="386" name="Google Shape;386;p36"/>
            <p:cNvSpPr/>
            <p:nvPr/>
          </p:nvSpPr>
          <p:spPr>
            <a:xfrm>
              <a:off x="771928" y="3771875"/>
              <a:ext cx="189600" cy="18801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36"/>
            <p:cNvSpPr/>
            <p:nvPr/>
          </p:nvSpPr>
          <p:spPr>
            <a:xfrm>
              <a:off x="464913" y="4078350"/>
              <a:ext cx="189600" cy="18801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36"/>
            <p:cNvSpPr/>
            <p:nvPr/>
          </p:nvSpPr>
          <p:spPr>
            <a:xfrm>
              <a:off x="157913" y="3349500"/>
              <a:ext cx="189600" cy="18801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9" name="Google Shape;389;p36"/>
          <p:cNvGrpSpPr/>
          <p:nvPr/>
        </p:nvGrpSpPr>
        <p:grpSpPr>
          <a:xfrm rot="10800000">
            <a:off x="8028913" y="-905925"/>
            <a:ext cx="803615" cy="2608950"/>
            <a:chOff x="157913" y="3349500"/>
            <a:chExt cx="803615" cy="2608950"/>
          </a:xfrm>
        </p:grpSpPr>
        <p:sp>
          <p:nvSpPr>
            <p:cNvPr id="390" name="Google Shape;390;p36"/>
            <p:cNvSpPr/>
            <p:nvPr/>
          </p:nvSpPr>
          <p:spPr>
            <a:xfrm>
              <a:off x="771928" y="3771875"/>
              <a:ext cx="189600" cy="18801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36"/>
            <p:cNvSpPr/>
            <p:nvPr/>
          </p:nvSpPr>
          <p:spPr>
            <a:xfrm>
              <a:off x="464913" y="4078350"/>
              <a:ext cx="189600" cy="18801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36"/>
            <p:cNvSpPr/>
            <p:nvPr/>
          </p:nvSpPr>
          <p:spPr>
            <a:xfrm>
              <a:off x="157913" y="3349500"/>
              <a:ext cx="189600" cy="18801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3" name="Google Shape;393;p36"/>
          <p:cNvGrpSpPr/>
          <p:nvPr/>
        </p:nvGrpSpPr>
        <p:grpSpPr>
          <a:xfrm rot="10800000" flipH="1">
            <a:off x="311413" y="-868100"/>
            <a:ext cx="803615" cy="2608950"/>
            <a:chOff x="157913" y="3349500"/>
            <a:chExt cx="803615" cy="2608950"/>
          </a:xfrm>
        </p:grpSpPr>
        <p:sp>
          <p:nvSpPr>
            <p:cNvPr id="394" name="Google Shape;394;p36"/>
            <p:cNvSpPr/>
            <p:nvPr/>
          </p:nvSpPr>
          <p:spPr>
            <a:xfrm>
              <a:off x="771928" y="3771875"/>
              <a:ext cx="189600" cy="18801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36"/>
            <p:cNvSpPr/>
            <p:nvPr/>
          </p:nvSpPr>
          <p:spPr>
            <a:xfrm>
              <a:off x="464913" y="4078350"/>
              <a:ext cx="189600" cy="18801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36"/>
            <p:cNvSpPr/>
            <p:nvPr/>
          </p:nvSpPr>
          <p:spPr>
            <a:xfrm>
              <a:off x="157913" y="3349500"/>
              <a:ext cx="189600" cy="18801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Voltaire"/>
              <a:buNone/>
              <a:defRPr sz="2800" b="1">
                <a:solidFill>
                  <a:schemeClr val="dk1"/>
                </a:solidFill>
                <a:latin typeface="Voltaire"/>
                <a:ea typeface="Voltaire"/>
                <a:cs typeface="Voltaire"/>
                <a:sym typeface="Voltair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246950"/>
            <a:ext cx="7717500" cy="3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Char char="●"/>
              <a:defRPr sz="1600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1pPr>
            <a:lvl2pPr marL="914400" lvl="1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Char char="○"/>
              <a:defRPr sz="1600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2pPr>
            <a:lvl3pPr marL="1371600" lvl="2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Char char="■"/>
              <a:defRPr sz="1600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3pPr>
            <a:lvl4pPr marL="1828800" lvl="3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Char char="●"/>
              <a:defRPr sz="1600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4pPr>
            <a:lvl5pPr marL="2286000" lvl="4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Char char="○"/>
              <a:defRPr sz="1600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5pPr>
            <a:lvl6pPr marL="2743200" lvl="5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Char char="■"/>
              <a:defRPr sz="1600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6pPr>
            <a:lvl7pPr marL="3200400" lvl="6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Char char="●"/>
              <a:defRPr sz="1600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7pPr>
            <a:lvl8pPr marL="3657600" lvl="7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Char char="○"/>
              <a:defRPr sz="1600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8pPr>
            <a:lvl9pPr marL="4114800" lvl="8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Char char="■"/>
              <a:defRPr sz="1600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5" r:id="rId2"/>
    <p:sldLayoutId id="2147483658" r:id="rId3"/>
    <p:sldLayoutId id="2147483678" r:id="rId4"/>
    <p:sldLayoutId id="2147483679" r:id="rId5"/>
    <p:sldLayoutId id="2147483680" r:id="rId6"/>
    <p:sldLayoutId id="2147483681" r:id="rId7"/>
    <p:sldLayoutId id="2147483682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mailto:sofija.Petrovic@elfak.rs" TargetMode="Externa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405;p39">
            <a:extLst>
              <a:ext uri="{FF2B5EF4-FFF2-40B4-BE49-F238E27FC236}">
                <a16:creationId xmlns:a16="http://schemas.microsoft.com/office/drawing/2014/main" id="{49423348-AC83-449B-B981-513B58553B51}"/>
              </a:ext>
            </a:extLst>
          </p:cNvPr>
          <p:cNvSpPr txBox="1">
            <a:spLocks/>
          </p:cNvSpPr>
          <p:nvPr/>
        </p:nvSpPr>
        <p:spPr>
          <a:xfrm>
            <a:off x="2904793" y="516258"/>
            <a:ext cx="5700783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Voltaire"/>
              <a:buNone/>
              <a:defRPr sz="4800" b="1" i="0" u="none" strike="noStrike" cap="none">
                <a:solidFill>
                  <a:schemeClr val="dk1"/>
                </a:solidFill>
                <a:latin typeface="Voltaire"/>
                <a:ea typeface="Voltaire"/>
                <a:cs typeface="Voltaire"/>
                <a:sym typeface="Voltair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pl-PL" sz="4400" i="1" dirty="0"/>
              <a:t>Backup </a:t>
            </a:r>
            <a:r>
              <a:rPr lang="pl-PL" sz="4400" dirty="0"/>
              <a:t>i </a:t>
            </a:r>
            <a:r>
              <a:rPr lang="pl-PL" sz="4400" i="1" dirty="0"/>
              <a:t>Restore  </a:t>
            </a:r>
            <a:r>
              <a:rPr lang="pl-PL" sz="4400" dirty="0"/>
              <a:t>MS SQL Server baze podataka</a:t>
            </a:r>
            <a:endParaRPr lang="pl-PL" sz="4400" i="1" dirty="0"/>
          </a:p>
        </p:txBody>
      </p:sp>
      <p:sp>
        <p:nvSpPr>
          <p:cNvPr id="13" name="Google Shape;406;p39">
            <a:extLst>
              <a:ext uri="{FF2B5EF4-FFF2-40B4-BE49-F238E27FC236}">
                <a16:creationId xmlns:a16="http://schemas.microsoft.com/office/drawing/2014/main" id="{CD34D17C-6327-41BD-9644-C31491C83DB3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847449" y="2851545"/>
            <a:ext cx="4001100" cy="46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Latn-ME" dirty="0"/>
              <a:t>MS SQL Server</a:t>
            </a:r>
            <a:endParaRPr dirty="0"/>
          </a:p>
        </p:txBody>
      </p:sp>
      <p:grpSp>
        <p:nvGrpSpPr>
          <p:cNvPr id="14" name="Google Shape;473;p39">
            <a:extLst>
              <a:ext uri="{FF2B5EF4-FFF2-40B4-BE49-F238E27FC236}">
                <a16:creationId xmlns:a16="http://schemas.microsoft.com/office/drawing/2014/main" id="{74A5AF27-737B-4BF6-A910-9066FD1CD54D}"/>
              </a:ext>
            </a:extLst>
          </p:cNvPr>
          <p:cNvGrpSpPr/>
          <p:nvPr/>
        </p:nvGrpSpPr>
        <p:grpSpPr>
          <a:xfrm>
            <a:off x="5310524" y="2568858"/>
            <a:ext cx="885350" cy="189600"/>
            <a:chOff x="5477200" y="3278121"/>
            <a:chExt cx="885350" cy="189600"/>
          </a:xfrm>
        </p:grpSpPr>
        <p:sp>
          <p:nvSpPr>
            <p:cNvPr id="15" name="Google Shape;474;p39">
              <a:extLst>
                <a:ext uri="{FF2B5EF4-FFF2-40B4-BE49-F238E27FC236}">
                  <a16:creationId xmlns:a16="http://schemas.microsoft.com/office/drawing/2014/main" id="{A6E5FE19-B431-486D-9FEA-A3E55724915D}"/>
                </a:ext>
              </a:extLst>
            </p:cNvPr>
            <p:cNvSpPr/>
            <p:nvPr/>
          </p:nvSpPr>
          <p:spPr>
            <a:xfrm>
              <a:off x="6172950" y="3278121"/>
              <a:ext cx="189600" cy="18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475;p39">
              <a:extLst>
                <a:ext uri="{FF2B5EF4-FFF2-40B4-BE49-F238E27FC236}">
                  <a16:creationId xmlns:a16="http://schemas.microsoft.com/office/drawing/2014/main" id="{185C555C-76A1-4060-92AC-555C73D78151}"/>
                </a:ext>
              </a:extLst>
            </p:cNvPr>
            <p:cNvSpPr/>
            <p:nvPr/>
          </p:nvSpPr>
          <p:spPr>
            <a:xfrm>
              <a:off x="5825075" y="3278121"/>
              <a:ext cx="189600" cy="189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476;p39">
              <a:extLst>
                <a:ext uri="{FF2B5EF4-FFF2-40B4-BE49-F238E27FC236}">
                  <a16:creationId xmlns:a16="http://schemas.microsoft.com/office/drawing/2014/main" id="{4B940E21-A1D9-4BAB-AA74-6B9CA219138E}"/>
                </a:ext>
              </a:extLst>
            </p:cNvPr>
            <p:cNvSpPr/>
            <p:nvPr/>
          </p:nvSpPr>
          <p:spPr>
            <a:xfrm>
              <a:off x="5477200" y="3278121"/>
              <a:ext cx="189600" cy="1896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8" name="Picture 2" descr="What's New in MS SQL 2019 | Soaring Eagle Consulting">
            <a:extLst>
              <a:ext uri="{FF2B5EF4-FFF2-40B4-BE49-F238E27FC236}">
                <a16:creationId xmlns:a16="http://schemas.microsoft.com/office/drawing/2014/main" id="{310B55FE-DE40-429D-AE1C-0F787E924C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678" y="1221228"/>
            <a:ext cx="2582659" cy="17217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Google Shape;406;p39">
            <a:extLst>
              <a:ext uri="{FF2B5EF4-FFF2-40B4-BE49-F238E27FC236}">
                <a16:creationId xmlns:a16="http://schemas.microsoft.com/office/drawing/2014/main" id="{59941651-9265-4F5A-A660-8F96BE540FDE}"/>
              </a:ext>
            </a:extLst>
          </p:cNvPr>
          <p:cNvSpPr txBox="1">
            <a:spLocks/>
          </p:cNvSpPr>
          <p:nvPr/>
        </p:nvSpPr>
        <p:spPr>
          <a:xfrm>
            <a:off x="3921599" y="3317145"/>
            <a:ext cx="4001100" cy="4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1pPr>
            <a:lvl2pPr marL="914400" marR="0" lvl="1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Tajawal"/>
              <a:buNone/>
              <a:defRPr sz="28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2pPr>
            <a:lvl3pPr marL="1371600" marR="0" lvl="2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Tajawal"/>
              <a:buNone/>
              <a:defRPr sz="28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3pPr>
            <a:lvl4pPr marL="1828800" marR="0" lvl="3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Tajawal"/>
              <a:buNone/>
              <a:defRPr sz="28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4pPr>
            <a:lvl5pPr marL="2286000" marR="0" lvl="4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Tajawal"/>
              <a:buNone/>
              <a:defRPr sz="28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5pPr>
            <a:lvl6pPr marL="2743200" marR="0" lvl="5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Tajawal"/>
              <a:buNone/>
              <a:defRPr sz="28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6pPr>
            <a:lvl7pPr marL="3200400" marR="0" lvl="6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Tajawal"/>
              <a:buNone/>
              <a:defRPr sz="28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7pPr>
            <a:lvl8pPr marL="3657600" marR="0" lvl="7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Tajawal"/>
              <a:buNone/>
              <a:defRPr sz="28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8pPr>
            <a:lvl9pPr marL="4114800" marR="0" lvl="8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Tajawal"/>
              <a:buNone/>
              <a:defRPr sz="28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9pPr>
          </a:lstStyle>
          <a:p>
            <a:pPr marL="0" indent="0"/>
            <a:r>
              <a:rPr lang="sr-Latn-ME" dirty="0"/>
              <a:t>Student: Sofija Petrović</a:t>
            </a:r>
          </a:p>
          <a:p>
            <a:pPr marL="0" indent="0"/>
            <a:r>
              <a:rPr lang="sr-Latn-ME" dirty="0"/>
              <a:t>Mentor: </a:t>
            </a:r>
            <a:r>
              <a:rPr lang="sr-Latn-ME" dirty="0" err="1"/>
              <a:t>doc</a:t>
            </a:r>
            <a:r>
              <a:rPr lang="sr-Latn-ME" dirty="0"/>
              <a:t>. dr. Aleksandar Stanimirović</a:t>
            </a:r>
          </a:p>
        </p:txBody>
      </p:sp>
    </p:spTree>
    <p:extLst>
      <p:ext uri="{BB962C8B-B14F-4D97-AF65-F5344CB8AC3E}">
        <p14:creationId xmlns:p14="http://schemas.microsoft.com/office/powerpoint/2010/main" val="25294311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487;p41">
            <a:extLst>
              <a:ext uri="{FF2B5EF4-FFF2-40B4-BE49-F238E27FC236}">
                <a16:creationId xmlns:a16="http://schemas.microsoft.com/office/drawing/2014/main" id="{C1A8BB64-20B3-4D39-9FB2-CF494B59BC6B}"/>
              </a:ext>
            </a:extLst>
          </p:cNvPr>
          <p:cNvSpPr/>
          <p:nvPr/>
        </p:nvSpPr>
        <p:spPr>
          <a:xfrm>
            <a:off x="1193776" y="1768209"/>
            <a:ext cx="696000" cy="696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488;p41">
            <a:extLst>
              <a:ext uri="{FF2B5EF4-FFF2-40B4-BE49-F238E27FC236}">
                <a16:creationId xmlns:a16="http://schemas.microsoft.com/office/drawing/2014/main" id="{57A34F8E-B542-4938-925F-E810D370AC9A}"/>
              </a:ext>
            </a:extLst>
          </p:cNvPr>
          <p:cNvSpPr/>
          <p:nvPr/>
        </p:nvSpPr>
        <p:spPr>
          <a:xfrm>
            <a:off x="3129178" y="1800984"/>
            <a:ext cx="696000" cy="6960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489;p41">
            <a:extLst>
              <a:ext uri="{FF2B5EF4-FFF2-40B4-BE49-F238E27FC236}">
                <a16:creationId xmlns:a16="http://schemas.microsoft.com/office/drawing/2014/main" id="{3110A88C-E80C-461A-875F-EF14458B1938}"/>
              </a:ext>
            </a:extLst>
          </p:cNvPr>
          <p:cNvSpPr txBox="1">
            <a:spLocks/>
          </p:cNvSpPr>
          <p:nvPr/>
        </p:nvSpPr>
        <p:spPr>
          <a:xfrm>
            <a:off x="409422" y="404044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Voltaire"/>
              <a:buNone/>
              <a:defRPr sz="7000" b="1" i="0" u="none" strike="noStrike" cap="none">
                <a:solidFill>
                  <a:schemeClr val="dk1"/>
                </a:solidFill>
                <a:latin typeface="Voltaire"/>
                <a:ea typeface="Voltaire"/>
                <a:cs typeface="Voltaire"/>
                <a:sym typeface="Voltair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lang="sr-Latn-ME" sz="3200" dirty="0"/>
              <a:t>Sadržaj</a:t>
            </a:r>
          </a:p>
        </p:txBody>
      </p:sp>
      <p:sp>
        <p:nvSpPr>
          <p:cNvPr id="39" name="Google Shape;492;p41">
            <a:extLst>
              <a:ext uri="{FF2B5EF4-FFF2-40B4-BE49-F238E27FC236}">
                <a16:creationId xmlns:a16="http://schemas.microsoft.com/office/drawing/2014/main" id="{E0F2CF96-7940-4F00-BEF0-9793B78D80CD}"/>
              </a:ext>
            </a:extLst>
          </p:cNvPr>
          <p:cNvSpPr txBox="1">
            <a:spLocks/>
          </p:cNvSpPr>
          <p:nvPr/>
        </p:nvSpPr>
        <p:spPr>
          <a:xfrm>
            <a:off x="1101297" y="1888403"/>
            <a:ext cx="875100" cy="49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 sz="1600" b="1" dirty="0">
                <a:latin typeface="Voltaire" panose="020B0604020202020204" charset="0"/>
              </a:rPr>
              <a:t>01</a:t>
            </a:r>
          </a:p>
        </p:txBody>
      </p:sp>
      <p:sp>
        <p:nvSpPr>
          <p:cNvPr id="40" name="Google Shape;494;p41">
            <a:extLst>
              <a:ext uri="{FF2B5EF4-FFF2-40B4-BE49-F238E27FC236}">
                <a16:creationId xmlns:a16="http://schemas.microsoft.com/office/drawing/2014/main" id="{4B5309E7-1609-44D2-8EE6-0C4B10FBE935}"/>
              </a:ext>
            </a:extLst>
          </p:cNvPr>
          <p:cNvSpPr/>
          <p:nvPr/>
        </p:nvSpPr>
        <p:spPr>
          <a:xfrm>
            <a:off x="5309310" y="1800984"/>
            <a:ext cx="696000" cy="696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500;p41">
            <a:extLst>
              <a:ext uri="{FF2B5EF4-FFF2-40B4-BE49-F238E27FC236}">
                <a16:creationId xmlns:a16="http://schemas.microsoft.com/office/drawing/2014/main" id="{D87858D8-8256-4CC9-A593-831716EEB4C7}"/>
              </a:ext>
            </a:extLst>
          </p:cNvPr>
          <p:cNvSpPr txBox="1">
            <a:spLocks/>
          </p:cNvSpPr>
          <p:nvPr/>
        </p:nvSpPr>
        <p:spPr>
          <a:xfrm flipH="1">
            <a:off x="2812966" y="2582668"/>
            <a:ext cx="1304504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sr-Latn-ME" sz="2800" b="1" dirty="0">
                <a:latin typeface="Voltaire" panose="020B0604020202020204" charset="0"/>
              </a:rPr>
              <a:t>Backup</a:t>
            </a:r>
            <a:endParaRPr lang="nn-NO" sz="2800" b="1" dirty="0">
              <a:latin typeface="Voltaire" panose="020B0604020202020204" charset="0"/>
            </a:endParaRPr>
          </a:p>
        </p:txBody>
      </p:sp>
      <p:sp>
        <p:nvSpPr>
          <p:cNvPr id="42" name="Google Shape;496;p41">
            <a:extLst>
              <a:ext uri="{FF2B5EF4-FFF2-40B4-BE49-F238E27FC236}">
                <a16:creationId xmlns:a16="http://schemas.microsoft.com/office/drawing/2014/main" id="{1873DBFC-E97A-4216-894A-5D32D8DEDD0F}"/>
              </a:ext>
            </a:extLst>
          </p:cNvPr>
          <p:cNvSpPr txBox="1">
            <a:spLocks/>
          </p:cNvSpPr>
          <p:nvPr/>
        </p:nvSpPr>
        <p:spPr>
          <a:xfrm>
            <a:off x="7046447" y="2606786"/>
            <a:ext cx="1714971" cy="49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sr-Latn-ME" sz="2800" b="1" dirty="0">
                <a:latin typeface="Voltaire" panose="020B0604020202020204" charset="0"/>
              </a:rPr>
              <a:t>Zaključak</a:t>
            </a:r>
          </a:p>
        </p:txBody>
      </p:sp>
      <p:sp>
        <p:nvSpPr>
          <p:cNvPr id="43" name="Google Shape;496;p41">
            <a:extLst>
              <a:ext uri="{FF2B5EF4-FFF2-40B4-BE49-F238E27FC236}">
                <a16:creationId xmlns:a16="http://schemas.microsoft.com/office/drawing/2014/main" id="{C82F2369-EE77-487C-A100-0364692F0405}"/>
              </a:ext>
            </a:extLst>
          </p:cNvPr>
          <p:cNvSpPr txBox="1">
            <a:spLocks/>
          </p:cNvSpPr>
          <p:nvPr/>
        </p:nvSpPr>
        <p:spPr>
          <a:xfrm>
            <a:off x="4268172" y="2606786"/>
            <a:ext cx="2778275" cy="44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sr-Latn-ME" sz="2400" b="1" dirty="0">
                <a:latin typeface="Voltaire" panose="020B0604020202020204" charset="0"/>
              </a:rPr>
              <a:t>Restore&amp;Recover</a:t>
            </a:r>
          </a:p>
        </p:txBody>
      </p:sp>
      <p:sp>
        <p:nvSpPr>
          <p:cNvPr id="44" name="Google Shape;487;p41">
            <a:extLst>
              <a:ext uri="{FF2B5EF4-FFF2-40B4-BE49-F238E27FC236}">
                <a16:creationId xmlns:a16="http://schemas.microsoft.com/office/drawing/2014/main" id="{8520B1E2-EC90-44DB-948F-518D188141FC}"/>
              </a:ext>
            </a:extLst>
          </p:cNvPr>
          <p:cNvSpPr/>
          <p:nvPr/>
        </p:nvSpPr>
        <p:spPr>
          <a:xfrm>
            <a:off x="7322302" y="1776039"/>
            <a:ext cx="696000" cy="696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7" name="Google Shape;492;p41">
            <a:extLst>
              <a:ext uri="{FF2B5EF4-FFF2-40B4-BE49-F238E27FC236}">
                <a16:creationId xmlns:a16="http://schemas.microsoft.com/office/drawing/2014/main" id="{E33E5198-D26A-4EAB-ADF0-BA1E7A0D4CA8}"/>
              </a:ext>
            </a:extLst>
          </p:cNvPr>
          <p:cNvSpPr txBox="1">
            <a:spLocks/>
          </p:cNvSpPr>
          <p:nvPr/>
        </p:nvSpPr>
        <p:spPr>
          <a:xfrm>
            <a:off x="3027668" y="1951620"/>
            <a:ext cx="875100" cy="49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 sz="1600" b="1" dirty="0">
                <a:latin typeface="Voltaire" panose="020B0604020202020204" charset="0"/>
              </a:rPr>
              <a:t>0</a:t>
            </a:r>
            <a:r>
              <a:rPr lang="sr-Latn-ME" sz="1600" b="1" dirty="0">
                <a:latin typeface="Voltaire" panose="020B0604020202020204" charset="0"/>
              </a:rPr>
              <a:t>2</a:t>
            </a:r>
            <a:endParaRPr lang="en" sz="1600" b="1" dirty="0">
              <a:latin typeface="Voltaire" panose="020B0604020202020204" charset="0"/>
            </a:endParaRPr>
          </a:p>
        </p:txBody>
      </p:sp>
      <p:sp>
        <p:nvSpPr>
          <p:cNvPr id="48" name="Google Shape;492;p41">
            <a:extLst>
              <a:ext uri="{FF2B5EF4-FFF2-40B4-BE49-F238E27FC236}">
                <a16:creationId xmlns:a16="http://schemas.microsoft.com/office/drawing/2014/main" id="{13C38940-660B-4285-928D-442ECB5D09FA}"/>
              </a:ext>
            </a:extLst>
          </p:cNvPr>
          <p:cNvSpPr txBox="1">
            <a:spLocks/>
          </p:cNvSpPr>
          <p:nvPr/>
        </p:nvSpPr>
        <p:spPr>
          <a:xfrm>
            <a:off x="5219760" y="1907856"/>
            <a:ext cx="875100" cy="49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 sz="1600" b="1" dirty="0">
                <a:latin typeface="Voltaire" panose="020B0604020202020204" charset="0"/>
              </a:rPr>
              <a:t>0</a:t>
            </a:r>
            <a:r>
              <a:rPr lang="sr-Latn-ME" sz="1600" b="1" dirty="0">
                <a:latin typeface="Voltaire" panose="020B0604020202020204" charset="0"/>
              </a:rPr>
              <a:t>3</a:t>
            </a:r>
            <a:endParaRPr lang="en" sz="1600" b="1" dirty="0">
              <a:latin typeface="Voltaire" panose="020B0604020202020204" charset="0"/>
            </a:endParaRPr>
          </a:p>
        </p:txBody>
      </p:sp>
      <p:sp>
        <p:nvSpPr>
          <p:cNvPr id="49" name="Google Shape;492;p41">
            <a:extLst>
              <a:ext uri="{FF2B5EF4-FFF2-40B4-BE49-F238E27FC236}">
                <a16:creationId xmlns:a16="http://schemas.microsoft.com/office/drawing/2014/main" id="{3A2C6D75-6E78-4B6B-A83C-5181BBB543F8}"/>
              </a:ext>
            </a:extLst>
          </p:cNvPr>
          <p:cNvSpPr txBox="1">
            <a:spLocks/>
          </p:cNvSpPr>
          <p:nvPr/>
        </p:nvSpPr>
        <p:spPr>
          <a:xfrm>
            <a:off x="7232752" y="1877289"/>
            <a:ext cx="875100" cy="49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 sz="1600" b="1" dirty="0">
                <a:latin typeface="Voltaire" panose="020B0604020202020204" charset="0"/>
              </a:rPr>
              <a:t>0</a:t>
            </a:r>
            <a:r>
              <a:rPr lang="sr-Latn-ME" sz="1600" b="1" dirty="0">
                <a:latin typeface="Voltaire" panose="020B0604020202020204" charset="0"/>
              </a:rPr>
              <a:t>4</a:t>
            </a:r>
            <a:endParaRPr lang="en" sz="1600" b="1" dirty="0">
              <a:latin typeface="Voltaire" panose="020B0604020202020204" charset="0"/>
            </a:endParaRPr>
          </a:p>
        </p:txBody>
      </p:sp>
      <p:sp>
        <p:nvSpPr>
          <p:cNvPr id="52" name="Google Shape;496;p41">
            <a:extLst>
              <a:ext uri="{FF2B5EF4-FFF2-40B4-BE49-F238E27FC236}">
                <a16:creationId xmlns:a16="http://schemas.microsoft.com/office/drawing/2014/main" id="{2A4397A9-15BB-4099-8932-EC65B7705890}"/>
              </a:ext>
            </a:extLst>
          </p:cNvPr>
          <p:cNvSpPr txBox="1">
            <a:spLocks/>
          </p:cNvSpPr>
          <p:nvPr/>
        </p:nvSpPr>
        <p:spPr>
          <a:xfrm>
            <a:off x="143703" y="2508337"/>
            <a:ext cx="2735331" cy="44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sr-Latn-ME" sz="2400" b="1" dirty="0">
                <a:latin typeface="Voltaire" panose="020B0604020202020204" charset="0"/>
              </a:rPr>
              <a:t>Uvod</a:t>
            </a:r>
          </a:p>
          <a:p>
            <a:pPr algn="ctr"/>
            <a:r>
              <a:rPr lang="sr-Latn-ME" sz="2400" b="1" dirty="0">
                <a:latin typeface="Voltaire" panose="020B0604020202020204" charset="0"/>
              </a:rPr>
              <a:t>Strategija</a:t>
            </a:r>
          </a:p>
          <a:p>
            <a:pPr algn="ctr"/>
            <a:r>
              <a:rPr lang="sr-Latn-ME" sz="2400" b="1" dirty="0">
                <a:latin typeface="Voltaire" panose="020B0604020202020204" charset="0"/>
              </a:rPr>
              <a:t>Model oporavka</a:t>
            </a:r>
          </a:p>
          <a:p>
            <a:pPr algn="ctr"/>
            <a:endParaRPr lang="sr-Latn-ME" sz="2400" b="1" dirty="0">
              <a:latin typeface="Voltaire" panose="020B0604020202020204" charset="0"/>
            </a:endParaRPr>
          </a:p>
          <a:p>
            <a:pPr algn="ctr"/>
            <a:endParaRPr lang="sr-Latn-ME" sz="2400" b="1" dirty="0">
              <a:latin typeface="Voltaire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99057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43"/>
          <p:cNvSpPr txBox="1">
            <a:spLocks noGrp="1"/>
          </p:cNvSpPr>
          <p:nvPr>
            <p:ph type="title"/>
          </p:nvPr>
        </p:nvSpPr>
        <p:spPr>
          <a:xfrm>
            <a:off x="349388" y="1966382"/>
            <a:ext cx="3876000" cy="83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Latn-ME" dirty="0"/>
              <a:t>01.01 Uvod</a:t>
            </a:r>
            <a:endParaRPr dirty="0"/>
          </a:p>
        </p:txBody>
      </p:sp>
      <p:sp>
        <p:nvSpPr>
          <p:cNvPr id="520" name="Google Shape;520;p43"/>
          <p:cNvSpPr txBox="1">
            <a:spLocks noGrp="1"/>
          </p:cNvSpPr>
          <p:nvPr>
            <p:ph type="subTitle" idx="1"/>
          </p:nvPr>
        </p:nvSpPr>
        <p:spPr>
          <a:xfrm>
            <a:off x="3476206" y="399922"/>
            <a:ext cx="5241074" cy="434365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sr-Latn-ME" sz="2200" dirty="0">
                <a:solidFill>
                  <a:schemeClr val="tx1"/>
                </a:solidFill>
                <a:latin typeface="Voltaire" panose="020B0604020202020204" charset="0"/>
              </a:rPr>
              <a:t>Glavna svrha – zaštita podataka koji se skladište</a:t>
            </a:r>
            <a:endParaRPr lang="sr-Latn-ME" sz="2200" b="1" dirty="0">
              <a:solidFill>
                <a:schemeClr val="tx1"/>
              </a:solidFill>
              <a:latin typeface="Voltaire" panose="020B0604020202020204" charset="0"/>
            </a:endParaRP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sr-Latn-ME" sz="2200" dirty="0">
                <a:solidFill>
                  <a:schemeClr val="tx1"/>
                </a:solidFill>
                <a:latin typeface="Voltaire" panose="020B0604020202020204" charset="0"/>
              </a:rPr>
              <a:t>Sa validnim rezervnim kopijama (</a:t>
            </a:r>
            <a:r>
              <a:rPr lang="sr-Latn-ME" sz="2200" i="1" dirty="0" err="1">
                <a:solidFill>
                  <a:schemeClr val="tx1"/>
                </a:solidFill>
                <a:latin typeface="Voltaire" panose="020B0604020202020204" charset="0"/>
              </a:rPr>
              <a:t>backups</a:t>
            </a:r>
            <a:r>
              <a:rPr lang="sr-Latn-ME" sz="2200" dirty="0">
                <a:solidFill>
                  <a:schemeClr val="tx1"/>
                </a:solidFill>
                <a:latin typeface="Voltaire" panose="020B0604020202020204" charset="0"/>
              </a:rPr>
              <a:t>), oporavak je moguć u sledećim situacijama:</a:t>
            </a: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sr-Latn-ME" sz="2200" dirty="0">
                <a:solidFill>
                  <a:schemeClr val="tx1"/>
                </a:solidFill>
                <a:latin typeface="Voltaire" panose="020B0604020202020204" charset="0"/>
              </a:rPr>
              <a:t>Korisničke greške</a:t>
            </a: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sr-Latn-ME" sz="2200" dirty="0">
                <a:solidFill>
                  <a:schemeClr val="tx1"/>
                </a:solidFill>
                <a:latin typeface="Voltaire" panose="020B0604020202020204" charset="0"/>
              </a:rPr>
              <a:t>Hardverske greške</a:t>
            </a: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sr-Latn-ME" sz="2200" dirty="0">
                <a:solidFill>
                  <a:schemeClr val="tx1"/>
                </a:solidFill>
                <a:latin typeface="Voltaire" panose="020B0604020202020204" charset="0"/>
              </a:rPr>
              <a:t>Prirodne katastrofe</a:t>
            </a: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sr-Latn-ME" sz="2200" dirty="0">
                <a:solidFill>
                  <a:schemeClr val="tx1"/>
                </a:solidFill>
                <a:latin typeface="Voltaire" panose="020B0604020202020204" charset="0"/>
              </a:rPr>
              <a:t>Kvar medija</a:t>
            </a:r>
            <a:endParaRPr sz="2200" dirty="0">
              <a:solidFill>
                <a:schemeClr val="tx1"/>
              </a:solidFill>
              <a:latin typeface="Voltaire" panose="020B0604020202020204" charset="0"/>
            </a:endParaRPr>
          </a:p>
        </p:txBody>
      </p:sp>
      <p:grpSp>
        <p:nvGrpSpPr>
          <p:cNvPr id="521" name="Google Shape;521;p43"/>
          <p:cNvGrpSpPr/>
          <p:nvPr/>
        </p:nvGrpSpPr>
        <p:grpSpPr>
          <a:xfrm>
            <a:off x="1246895" y="2803382"/>
            <a:ext cx="885350" cy="189600"/>
            <a:chOff x="5477200" y="3278121"/>
            <a:chExt cx="885350" cy="189600"/>
          </a:xfrm>
        </p:grpSpPr>
        <p:sp>
          <p:nvSpPr>
            <p:cNvPr id="522" name="Google Shape;522;p43"/>
            <p:cNvSpPr/>
            <p:nvPr/>
          </p:nvSpPr>
          <p:spPr>
            <a:xfrm>
              <a:off x="6172950" y="3278121"/>
              <a:ext cx="189600" cy="18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43"/>
            <p:cNvSpPr/>
            <p:nvPr/>
          </p:nvSpPr>
          <p:spPr>
            <a:xfrm>
              <a:off x="5825075" y="3278121"/>
              <a:ext cx="189600" cy="189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43"/>
            <p:cNvSpPr/>
            <p:nvPr/>
          </p:nvSpPr>
          <p:spPr>
            <a:xfrm>
              <a:off x="5477200" y="3278121"/>
              <a:ext cx="189600" cy="1896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44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sr-Latn-ME" dirty="0"/>
              <a:t>01.02 Strategija za </a:t>
            </a:r>
            <a:r>
              <a:rPr lang="sr-Latn-ME" i="1" dirty="0"/>
              <a:t>backup </a:t>
            </a:r>
            <a:r>
              <a:rPr lang="sr-Latn-ME" dirty="0"/>
              <a:t>i </a:t>
            </a:r>
            <a:r>
              <a:rPr lang="sr-Latn-ME" i="1" dirty="0"/>
              <a:t>restore</a:t>
            </a:r>
            <a:endParaRPr dirty="0"/>
          </a:p>
        </p:txBody>
      </p:sp>
      <p:sp>
        <p:nvSpPr>
          <p:cNvPr id="630" name="Google Shape;630;p44"/>
          <p:cNvSpPr txBox="1">
            <a:spLocks noGrp="1"/>
          </p:cNvSpPr>
          <p:nvPr>
            <p:ph type="subTitle" idx="1"/>
          </p:nvPr>
        </p:nvSpPr>
        <p:spPr>
          <a:xfrm>
            <a:off x="713225" y="1112200"/>
            <a:ext cx="7717500" cy="197824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sr-Latn-RS" sz="2000" dirty="0">
                <a:solidFill>
                  <a:schemeClr val="tx1"/>
                </a:solidFill>
              </a:rPr>
              <a:t>Mora biti prilagođena okruženju i dostupnim resursima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sr-Latn-RS" sz="2000" dirty="0">
                <a:solidFill>
                  <a:schemeClr val="tx1"/>
                </a:solidFill>
              </a:rPr>
              <a:t>Poslovni zahtevi treba da budu ispunjeni sa minimalnim gubitkom podataka i maksimalnom dostupnošću podataka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sr-Latn-RS" sz="2000" dirty="0">
              <a:solidFill>
                <a:schemeClr val="tx1"/>
              </a:solidFill>
            </a:endParaRPr>
          </a:p>
          <a:p>
            <a:pPr lvl="0" indent="-45720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sr-Latn-RS" sz="2000" i="1" dirty="0">
                <a:solidFill>
                  <a:schemeClr val="accent5">
                    <a:lumMod val="75000"/>
                  </a:schemeClr>
                </a:solidFill>
              </a:rPr>
              <a:t>Backup </a:t>
            </a:r>
            <a:r>
              <a:rPr lang="sr-Latn-RS" sz="2000" dirty="0">
                <a:solidFill>
                  <a:schemeClr val="accent5">
                    <a:lumMod val="75000"/>
                  </a:schemeClr>
                </a:solidFill>
              </a:rPr>
              <a:t>deo strategije </a:t>
            </a:r>
          </a:p>
          <a:p>
            <a:pPr lvl="0" indent="-45720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sr-Latn-RS" sz="2000" i="1" dirty="0">
                <a:solidFill>
                  <a:schemeClr val="accent5">
                    <a:lumMod val="75000"/>
                  </a:schemeClr>
                </a:solidFill>
              </a:rPr>
              <a:t>Restore </a:t>
            </a:r>
            <a:r>
              <a:rPr lang="sr-Latn-RS" sz="2000" dirty="0">
                <a:solidFill>
                  <a:schemeClr val="accent5">
                    <a:lumMod val="75000"/>
                  </a:schemeClr>
                </a:solidFill>
              </a:rPr>
              <a:t>deo strategije</a:t>
            </a:r>
            <a:endParaRPr lang="sr-Latn-RS" sz="2000" i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5" name="Google Shape;615;p44">
            <a:extLst>
              <a:ext uri="{FF2B5EF4-FFF2-40B4-BE49-F238E27FC236}">
                <a16:creationId xmlns:a16="http://schemas.microsoft.com/office/drawing/2014/main" id="{D4164BA9-30B3-4682-A989-291BAF0C582C}"/>
              </a:ext>
            </a:extLst>
          </p:cNvPr>
          <p:cNvSpPr txBox="1">
            <a:spLocks/>
          </p:cNvSpPr>
          <p:nvPr/>
        </p:nvSpPr>
        <p:spPr>
          <a:xfrm>
            <a:off x="713225" y="322632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Voltaire"/>
              <a:buNone/>
              <a:defRPr sz="2800" b="1" i="0" u="none" strike="noStrike" cap="none">
                <a:solidFill>
                  <a:schemeClr val="dk1"/>
                </a:solidFill>
                <a:latin typeface="Voltaire"/>
                <a:ea typeface="Voltaire"/>
                <a:cs typeface="Voltaire"/>
                <a:sym typeface="Voltair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l-PL" dirty="0"/>
              <a:t>01.03 Model za oporavak baze</a:t>
            </a:r>
          </a:p>
        </p:txBody>
      </p:sp>
      <p:sp>
        <p:nvSpPr>
          <p:cNvPr id="16" name="Google Shape;630;p44">
            <a:extLst>
              <a:ext uri="{FF2B5EF4-FFF2-40B4-BE49-F238E27FC236}">
                <a16:creationId xmlns:a16="http://schemas.microsoft.com/office/drawing/2014/main" id="{3849BC43-98AB-40F5-B0A0-2BDF34459A52}"/>
              </a:ext>
            </a:extLst>
          </p:cNvPr>
          <p:cNvSpPr txBox="1">
            <a:spLocks/>
          </p:cNvSpPr>
          <p:nvPr/>
        </p:nvSpPr>
        <p:spPr>
          <a:xfrm>
            <a:off x="713224" y="3799020"/>
            <a:ext cx="8291879" cy="1246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9pPr>
          </a:lstStyle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sr-Latn-RS" sz="2000" dirty="0">
                <a:solidFill>
                  <a:schemeClr val="tx1"/>
                </a:solidFill>
              </a:rPr>
              <a:t>Svojstvo baze koje upravlja transakcionim logom i kojim je utvrđeno koje kopije i obnavljanja podržava neka baza podataka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sr-Latn-ME" sz="2000" i="1" dirty="0">
                <a:solidFill>
                  <a:schemeClr val="accent5">
                    <a:lumMod val="75000"/>
                  </a:schemeClr>
                </a:solidFill>
              </a:rPr>
              <a:t>Simple Recovery Model, Full Recovery Model, Bulk-logged Recovery Model</a:t>
            </a:r>
            <a:endParaRPr lang="sr-Latn-RS" sz="2000" i="1" dirty="0">
              <a:solidFill>
                <a:schemeClr val="accent5">
                  <a:lumMod val="75000"/>
                </a:schemeClr>
              </a:solidFill>
            </a:endParaRPr>
          </a:p>
          <a:p>
            <a:pPr marL="0" indent="0" algn="l"/>
            <a:endParaRPr lang="sr-Latn-RS" sz="20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44"/>
          <p:cNvSpPr txBox="1">
            <a:spLocks noGrp="1"/>
          </p:cNvSpPr>
          <p:nvPr>
            <p:ph type="title"/>
          </p:nvPr>
        </p:nvSpPr>
        <p:spPr>
          <a:xfrm>
            <a:off x="713225" y="539499"/>
            <a:ext cx="7717500" cy="142819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sr-Latn-ME" dirty="0"/>
              <a:t>02.01 </a:t>
            </a:r>
            <a:r>
              <a:rPr lang="sr-Latn-ME" i="1" dirty="0"/>
              <a:t>Full Backup </a:t>
            </a:r>
            <a:br>
              <a:rPr lang="sr-Latn-ME" sz="2400" i="1" dirty="0"/>
            </a:br>
            <a:r>
              <a:rPr lang="sr-Latn-ME" sz="2400" i="1" dirty="0"/>
              <a:t>- </a:t>
            </a:r>
            <a:r>
              <a:rPr lang="en-US" sz="2400" i="1" dirty="0"/>
              <a:t> </a:t>
            </a:r>
            <a:r>
              <a:rPr lang="sr-Latn-ME" sz="2400" b="0" dirty="0"/>
              <a:t>Rezervna kopija koja sadrži sve podatke iz određene baze, grupe fajlova ili fajlova, ali i </a:t>
            </a:r>
            <a:r>
              <a:rPr lang="sr-Latn-ME" sz="2400" b="0" dirty="0" err="1"/>
              <a:t>deo</a:t>
            </a:r>
            <a:r>
              <a:rPr lang="sr-Latn-ME" sz="2400" b="0" dirty="0"/>
              <a:t> transakcionog loga</a:t>
            </a:r>
            <a:endParaRPr i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32AEC9B-4093-47E2-9405-6753AB338109}"/>
              </a:ext>
            </a:extLst>
          </p:cNvPr>
          <p:cNvPicPr/>
          <p:nvPr/>
        </p:nvPicPr>
        <p:blipFill rotWithShape="1">
          <a:blip r:embed="rId3"/>
          <a:srcRect l="6521" t="13133" r="14364" b="9193"/>
          <a:stretch/>
        </p:blipFill>
        <p:spPr bwMode="auto">
          <a:xfrm>
            <a:off x="1282562" y="2012302"/>
            <a:ext cx="6578826" cy="2591699"/>
          </a:xfrm>
          <a:prstGeom prst="rect">
            <a:avLst/>
          </a:prstGeom>
          <a:ln>
            <a:solidFill>
              <a:schemeClr val="accent1"/>
            </a:solidFill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4" name="Google Shape;520;p43">
            <a:extLst>
              <a:ext uri="{FF2B5EF4-FFF2-40B4-BE49-F238E27FC236}">
                <a16:creationId xmlns:a16="http://schemas.microsoft.com/office/drawing/2014/main" id="{3E9ECCC3-582B-4C5E-9542-89F4EDEED64E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073245" y="4514126"/>
            <a:ext cx="3165509" cy="5092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sr-Latn-ME" sz="1800" dirty="0">
                <a:solidFill>
                  <a:schemeClr val="tx1"/>
                </a:solidFill>
                <a:latin typeface="Voltaire" panose="020B0604020202020204" charset="0"/>
              </a:rPr>
              <a:t>Kreiranje potpune rezervne kopije</a:t>
            </a:r>
          </a:p>
        </p:txBody>
      </p:sp>
    </p:spTree>
    <p:extLst>
      <p:ext uri="{BB962C8B-B14F-4D97-AF65-F5344CB8AC3E}">
        <p14:creationId xmlns:p14="http://schemas.microsoft.com/office/powerpoint/2010/main" val="10291407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44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66426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sr-Latn-ME" dirty="0"/>
              <a:t>02.01 </a:t>
            </a:r>
            <a:r>
              <a:rPr lang="sr-Latn-ME" i="1" dirty="0"/>
              <a:t>Full Backup </a:t>
            </a:r>
            <a:br>
              <a:rPr lang="sr-Latn-ME" sz="2400" i="1" dirty="0"/>
            </a:br>
            <a:endParaRPr i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C5335BE-3182-467A-877E-0536C018F40C}"/>
              </a:ext>
            </a:extLst>
          </p:cNvPr>
          <p:cNvPicPr/>
          <p:nvPr/>
        </p:nvPicPr>
        <p:blipFill rotWithShape="1">
          <a:blip r:embed="rId3"/>
          <a:srcRect t="12386" r="2015" b="7550"/>
          <a:stretch/>
        </p:blipFill>
        <p:spPr bwMode="auto">
          <a:xfrm>
            <a:off x="2332008" y="1312362"/>
            <a:ext cx="4479933" cy="1166984"/>
          </a:xfrm>
          <a:prstGeom prst="rect">
            <a:avLst/>
          </a:prstGeom>
          <a:ln>
            <a:solidFill>
              <a:schemeClr val="accent1"/>
            </a:solidFill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58F5E64-2E58-48E3-9886-2A0D7D7F7296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1390191" y="2913606"/>
            <a:ext cx="6781535" cy="1787934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6" name="Google Shape;520;p43">
            <a:extLst>
              <a:ext uri="{FF2B5EF4-FFF2-40B4-BE49-F238E27FC236}">
                <a16:creationId xmlns:a16="http://schemas.microsoft.com/office/drawing/2014/main" id="{C41107B7-6E83-4CD7-BBCB-EA55CB01209F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766735" y="2387044"/>
            <a:ext cx="5983726" cy="55422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sr-Latn-ME" sz="1800" dirty="0">
                <a:solidFill>
                  <a:schemeClr val="tx1"/>
                </a:solidFill>
                <a:latin typeface="Voltaire" panose="020B0604020202020204" charset="0"/>
              </a:rPr>
              <a:t>Kreiranje potpune rezervne kopije – T-SQL</a:t>
            </a:r>
          </a:p>
        </p:txBody>
      </p:sp>
      <p:sp>
        <p:nvSpPr>
          <p:cNvPr id="7" name="Google Shape;520;p43">
            <a:extLst>
              <a:ext uri="{FF2B5EF4-FFF2-40B4-BE49-F238E27FC236}">
                <a16:creationId xmlns:a16="http://schemas.microsoft.com/office/drawing/2014/main" id="{B084A178-28AE-46D4-A205-74C811C95990}"/>
              </a:ext>
            </a:extLst>
          </p:cNvPr>
          <p:cNvSpPr txBox="1">
            <a:spLocks/>
          </p:cNvSpPr>
          <p:nvPr/>
        </p:nvSpPr>
        <p:spPr>
          <a:xfrm>
            <a:off x="2668131" y="4542510"/>
            <a:ext cx="5983726" cy="5542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9pPr>
          </a:lstStyle>
          <a:p>
            <a:pPr marL="0" indent="0" algn="l">
              <a:lnSpc>
                <a:spcPct val="150000"/>
              </a:lnSpc>
            </a:pPr>
            <a:r>
              <a:rPr lang="sr-Latn-ME" sz="1800" dirty="0">
                <a:solidFill>
                  <a:schemeClr val="tx1"/>
                </a:solidFill>
                <a:latin typeface="Voltaire" panose="020B0604020202020204" charset="0"/>
              </a:rPr>
              <a:t>Izlaz nakon kreiranja potpune rezervne kopije</a:t>
            </a:r>
          </a:p>
        </p:txBody>
      </p:sp>
    </p:spTree>
    <p:extLst>
      <p:ext uri="{BB962C8B-B14F-4D97-AF65-F5344CB8AC3E}">
        <p14:creationId xmlns:p14="http://schemas.microsoft.com/office/powerpoint/2010/main" val="14583265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44"/>
          <p:cNvSpPr txBox="1">
            <a:spLocks noGrp="1"/>
          </p:cNvSpPr>
          <p:nvPr>
            <p:ph type="title"/>
          </p:nvPr>
        </p:nvSpPr>
        <p:spPr>
          <a:xfrm>
            <a:off x="713250" y="532113"/>
            <a:ext cx="7717500" cy="66426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sr-Latn-ME" dirty="0"/>
              <a:t>02.01 </a:t>
            </a:r>
            <a:r>
              <a:rPr lang="sr-Latn-ME" i="1" dirty="0"/>
              <a:t>Full Backup </a:t>
            </a:r>
            <a:br>
              <a:rPr lang="sr-Latn-ME" sz="2400" i="1" dirty="0"/>
            </a:br>
            <a:endParaRPr i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8B5A33C-11A6-4C5C-84D4-0B8CC8D1BBFB}"/>
              </a:ext>
            </a:extLst>
          </p:cNvPr>
          <p:cNvPicPr/>
          <p:nvPr/>
        </p:nvPicPr>
        <p:blipFill rotWithShape="1">
          <a:blip r:embed="rId3"/>
          <a:srcRect t="27343" r="1003"/>
          <a:stretch/>
        </p:blipFill>
        <p:spPr>
          <a:xfrm>
            <a:off x="923429" y="1388039"/>
            <a:ext cx="6828811" cy="56716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B84DE93-B86F-40B5-AC1D-C614EE1F4FFA}"/>
              </a:ext>
            </a:extLst>
          </p:cNvPr>
          <p:cNvPicPr/>
          <p:nvPr/>
        </p:nvPicPr>
        <p:blipFill rotWithShape="1">
          <a:blip r:embed="rId4"/>
          <a:srcRect t="4887" r="1745" b="5812"/>
          <a:stretch/>
        </p:blipFill>
        <p:spPr bwMode="auto">
          <a:xfrm>
            <a:off x="105219" y="3044283"/>
            <a:ext cx="3255395" cy="1346787"/>
          </a:xfrm>
          <a:prstGeom prst="rect">
            <a:avLst/>
          </a:prstGeom>
          <a:ln>
            <a:solidFill>
              <a:schemeClr val="accent1"/>
            </a:solidFill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A864E45-DE92-4093-A15F-EFB28FF45EA9}"/>
              </a:ext>
            </a:extLst>
          </p:cNvPr>
          <p:cNvPicPr/>
          <p:nvPr/>
        </p:nvPicPr>
        <p:blipFill rotWithShape="1">
          <a:blip r:embed="rId5"/>
          <a:srcRect t="-1" b="-686"/>
          <a:stretch/>
        </p:blipFill>
        <p:spPr bwMode="auto">
          <a:xfrm>
            <a:off x="3263015" y="3044283"/>
            <a:ext cx="5775766" cy="1346787"/>
          </a:xfrm>
          <a:prstGeom prst="rect">
            <a:avLst/>
          </a:prstGeom>
          <a:ln>
            <a:solidFill>
              <a:schemeClr val="accent1"/>
            </a:solidFill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7" name="Google Shape;520;p43">
            <a:extLst>
              <a:ext uri="{FF2B5EF4-FFF2-40B4-BE49-F238E27FC236}">
                <a16:creationId xmlns:a16="http://schemas.microsoft.com/office/drawing/2014/main" id="{5558B5FF-972D-4977-BD15-0119A0478A44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447024" y="1885466"/>
            <a:ext cx="5983726" cy="55422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sr-Latn-ME" sz="1800" dirty="0">
                <a:solidFill>
                  <a:schemeClr val="tx1"/>
                </a:solidFill>
                <a:latin typeface="Voltaire" panose="020B0604020202020204" charset="0"/>
              </a:rPr>
              <a:t>Prvi način za </a:t>
            </a:r>
            <a:r>
              <a:rPr lang="sr-Latn-ME" sz="1800" dirty="0" err="1">
                <a:solidFill>
                  <a:schemeClr val="tx1"/>
                </a:solidFill>
                <a:latin typeface="Voltaire" panose="020B0604020202020204" charset="0"/>
              </a:rPr>
              <a:t>pregled</a:t>
            </a:r>
            <a:r>
              <a:rPr lang="sr-Latn-ME" sz="1800" dirty="0">
                <a:solidFill>
                  <a:schemeClr val="tx1"/>
                </a:solidFill>
                <a:latin typeface="Voltaire" panose="020B0604020202020204" charset="0"/>
              </a:rPr>
              <a:t> kreiranog </a:t>
            </a:r>
            <a:r>
              <a:rPr lang="sr-Latn-ME" sz="1800" i="1" dirty="0">
                <a:solidFill>
                  <a:schemeClr val="tx1"/>
                </a:solidFill>
                <a:latin typeface="Voltaire" panose="020B0604020202020204" charset="0"/>
              </a:rPr>
              <a:t>backup-</a:t>
            </a:r>
            <a:r>
              <a:rPr lang="sr-Latn-ME" sz="1800" dirty="0">
                <a:solidFill>
                  <a:schemeClr val="tx1"/>
                </a:solidFill>
                <a:latin typeface="Voltaire" panose="020B0604020202020204" charset="0"/>
              </a:rPr>
              <a:t>a</a:t>
            </a:r>
          </a:p>
        </p:txBody>
      </p:sp>
      <p:sp>
        <p:nvSpPr>
          <p:cNvPr id="10" name="Google Shape;520;p43">
            <a:extLst>
              <a:ext uri="{FF2B5EF4-FFF2-40B4-BE49-F238E27FC236}">
                <a16:creationId xmlns:a16="http://schemas.microsoft.com/office/drawing/2014/main" id="{2D5845EF-82C5-4C32-955F-848A5424E51F}"/>
              </a:ext>
            </a:extLst>
          </p:cNvPr>
          <p:cNvSpPr txBox="1">
            <a:spLocks/>
          </p:cNvSpPr>
          <p:nvPr/>
        </p:nvSpPr>
        <p:spPr>
          <a:xfrm>
            <a:off x="2563467" y="4334276"/>
            <a:ext cx="5983726" cy="5542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9pPr>
          </a:lstStyle>
          <a:p>
            <a:pPr marL="0" indent="0" algn="l">
              <a:lnSpc>
                <a:spcPct val="150000"/>
              </a:lnSpc>
            </a:pPr>
            <a:r>
              <a:rPr lang="sr-Latn-ME" sz="1800" dirty="0">
                <a:solidFill>
                  <a:schemeClr val="tx1"/>
                </a:solidFill>
                <a:latin typeface="Voltaire" panose="020B0604020202020204" charset="0"/>
              </a:rPr>
              <a:t>Drugi način za </a:t>
            </a:r>
            <a:r>
              <a:rPr lang="sr-Latn-ME" sz="1800" dirty="0" err="1">
                <a:solidFill>
                  <a:schemeClr val="tx1"/>
                </a:solidFill>
                <a:latin typeface="Voltaire" panose="020B0604020202020204" charset="0"/>
              </a:rPr>
              <a:t>pregled</a:t>
            </a:r>
            <a:r>
              <a:rPr lang="sr-Latn-ME" sz="1800" dirty="0">
                <a:solidFill>
                  <a:schemeClr val="tx1"/>
                </a:solidFill>
                <a:latin typeface="Voltaire" panose="020B0604020202020204" charset="0"/>
              </a:rPr>
              <a:t> kreiranog </a:t>
            </a:r>
            <a:r>
              <a:rPr lang="sr-Latn-ME" sz="1800" i="1" dirty="0">
                <a:solidFill>
                  <a:schemeClr val="tx1"/>
                </a:solidFill>
                <a:latin typeface="Voltaire" panose="020B0604020202020204" charset="0"/>
              </a:rPr>
              <a:t>backup-</a:t>
            </a:r>
            <a:r>
              <a:rPr lang="sr-Latn-ME" sz="1800" dirty="0">
                <a:solidFill>
                  <a:schemeClr val="tx1"/>
                </a:solidFill>
                <a:latin typeface="Voltaire" panose="020B0604020202020204" charset="0"/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817034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44"/>
          <p:cNvSpPr txBox="1">
            <a:spLocks noGrp="1"/>
          </p:cNvSpPr>
          <p:nvPr>
            <p:ph type="title"/>
          </p:nvPr>
        </p:nvSpPr>
        <p:spPr>
          <a:xfrm>
            <a:off x="713250" y="532113"/>
            <a:ext cx="7717500" cy="66426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sr-Latn-ME" dirty="0"/>
              <a:t>02.01 </a:t>
            </a:r>
            <a:r>
              <a:rPr lang="sr-Latn-ME" i="1" dirty="0"/>
              <a:t>Full Backup </a:t>
            </a:r>
            <a:br>
              <a:rPr lang="sr-Latn-ME" sz="2400" i="1" dirty="0"/>
            </a:br>
            <a:endParaRPr i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BE6AAA-04B5-478E-A318-5FD62E968AA6}"/>
              </a:ext>
            </a:extLst>
          </p:cNvPr>
          <p:cNvPicPr/>
          <p:nvPr/>
        </p:nvPicPr>
        <p:blipFill rotWithShape="1">
          <a:blip r:embed="rId3"/>
          <a:srcRect r="1911" b="6126"/>
          <a:stretch/>
        </p:blipFill>
        <p:spPr bwMode="auto">
          <a:xfrm>
            <a:off x="3148748" y="1144130"/>
            <a:ext cx="2581299" cy="1882485"/>
          </a:xfrm>
          <a:prstGeom prst="rect">
            <a:avLst/>
          </a:prstGeom>
          <a:ln>
            <a:solidFill>
              <a:schemeClr val="accent1"/>
            </a:solidFill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9CC1410-3BC5-4163-8554-0D346E94866D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1615499" y="3077656"/>
            <a:ext cx="6139538" cy="137738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5" name="Google Shape;520;p43">
            <a:extLst>
              <a:ext uri="{FF2B5EF4-FFF2-40B4-BE49-F238E27FC236}">
                <a16:creationId xmlns:a16="http://schemas.microsoft.com/office/drawing/2014/main" id="{F699C993-AD1E-4398-B02A-0FFA7B118D8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883921" y="4455043"/>
            <a:ext cx="8384566" cy="55422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sr-Latn-ME" sz="1800" dirty="0" err="1">
                <a:solidFill>
                  <a:schemeClr val="tx1"/>
                </a:solidFill>
                <a:latin typeface="Voltaire" panose="020B0604020202020204" charset="0"/>
              </a:rPr>
              <a:t>Pregled</a:t>
            </a:r>
            <a:r>
              <a:rPr lang="en-US" sz="1800" dirty="0">
                <a:solidFill>
                  <a:schemeClr val="tx1"/>
                </a:solidFill>
                <a:latin typeface="Voltaire" panose="020B0604020202020204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Voltaire" panose="020B0604020202020204" charset="0"/>
              </a:rPr>
              <a:t>rezervnih</a:t>
            </a:r>
            <a:r>
              <a:rPr lang="en-US" sz="1800" dirty="0">
                <a:solidFill>
                  <a:schemeClr val="tx1"/>
                </a:solidFill>
                <a:latin typeface="Voltaire" panose="020B0604020202020204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Voltaire" panose="020B0604020202020204" charset="0"/>
              </a:rPr>
              <a:t>kopija</a:t>
            </a:r>
            <a:r>
              <a:rPr lang="en-US" sz="1800" dirty="0">
                <a:solidFill>
                  <a:schemeClr val="tx1"/>
                </a:solidFill>
                <a:latin typeface="Voltaire" panose="020B0604020202020204" charset="0"/>
              </a:rPr>
              <a:t> </a:t>
            </a:r>
            <a:r>
              <a:rPr lang="sr-Latn-ME" sz="1800" dirty="0">
                <a:solidFill>
                  <a:schemeClr val="tx1"/>
                </a:solidFill>
                <a:latin typeface="Voltaire" panose="020B0604020202020204" charset="0"/>
              </a:rPr>
              <a:t> nakon kreiranja </a:t>
            </a:r>
            <a:r>
              <a:rPr lang="sr-Latn-ME" sz="1800" i="1" dirty="0">
                <a:solidFill>
                  <a:schemeClr val="tx1"/>
                </a:solidFill>
                <a:latin typeface="Voltaire" panose="020B0604020202020204" charset="0"/>
              </a:rPr>
              <a:t>backup-</a:t>
            </a:r>
            <a:r>
              <a:rPr lang="sr-Latn-ME" sz="1800" dirty="0">
                <a:solidFill>
                  <a:schemeClr val="tx1"/>
                </a:solidFill>
                <a:latin typeface="Voltaire" panose="020B0604020202020204" charset="0"/>
              </a:rPr>
              <a:t>a sa postojećom aktivnom transakcijom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1C4BBBB-2BC5-4ABD-9FAD-03BEB4D013B7}"/>
              </a:ext>
            </a:extLst>
          </p:cNvPr>
          <p:cNvSpPr/>
          <p:nvPr/>
        </p:nvSpPr>
        <p:spPr>
          <a:xfrm>
            <a:off x="3889094" y="4097439"/>
            <a:ext cx="2511706" cy="23683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1834486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44"/>
          <p:cNvSpPr txBox="1">
            <a:spLocks noGrp="1"/>
          </p:cNvSpPr>
          <p:nvPr>
            <p:ph type="title"/>
          </p:nvPr>
        </p:nvSpPr>
        <p:spPr>
          <a:xfrm>
            <a:off x="713249" y="532112"/>
            <a:ext cx="8338153" cy="235839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sr-Latn-ME" dirty="0"/>
              <a:t>02.02 </a:t>
            </a:r>
            <a:r>
              <a:rPr lang="sr-Latn-ME" i="1" dirty="0"/>
              <a:t>Full File Backup </a:t>
            </a:r>
            <a:br>
              <a:rPr lang="sr-Latn-ME" i="1" dirty="0"/>
            </a:br>
            <a:r>
              <a:rPr lang="sr-Latn-ME" sz="2400" i="1" dirty="0"/>
              <a:t>- </a:t>
            </a:r>
            <a:r>
              <a:rPr lang="en-US" sz="2400" i="1" dirty="0"/>
              <a:t> </a:t>
            </a:r>
            <a:r>
              <a:rPr lang="sr-Latn-ME" sz="2000" b="0" dirty="0"/>
              <a:t>Fajlovi mogu da se u posebnim rezervnim kopijama i da se vraćaju </a:t>
            </a:r>
            <a:r>
              <a:rPr lang="sr-Latn-ME" sz="2000" b="0" dirty="0" err="1"/>
              <a:t>individualnočuvaju</a:t>
            </a:r>
            <a:br>
              <a:rPr lang="sr-Latn-ME" sz="2000" b="0" dirty="0"/>
            </a:br>
            <a:r>
              <a:rPr lang="sr-Latn-ME" sz="2000" b="0" dirty="0"/>
              <a:t>- </a:t>
            </a:r>
            <a:r>
              <a:rPr lang="en-US" sz="2000" b="0" dirty="0"/>
              <a:t> </a:t>
            </a:r>
            <a:r>
              <a:rPr lang="sr-Latn-ME" sz="2000" b="0" dirty="0" err="1"/>
              <a:t>Cela</a:t>
            </a:r>
            <a:r>
              <a:rPr lang="sr-Latn-ME" sz="2000" b="0" dirty="0"/>
              <a:t> grupa fajlova je </a:t>
            </a:r>
            <a:r>
              <a:rPr lang="sr-Latn-ME" sz="2000" b="0" i="1" dirty="0"/>
              <a:t>offline</a:t>
            </a:r>
            <a:r>
              <a:rPr lang="sr-Latn-ME" sz="2000" b="0" dirty="0"/>
              <a:t> dok se neki fajl iz grupe vraća</a:t>
            </a:r>
            <a:br>
              <a:rPr lang="sr-Latn-ME" sz="2000" b="0" dirty="0"/>
            </a:br>
            <a:r>
              <a:rPr lang="sr-Latn-ME" sz="2000" b="0" dirty="0"/>
              <a:t>- </a:t>
            </a:r>
            <a:r>
              <a:rPr lang="en-US" sz="2000" b="0" dirty="0"/>
              <a:t> </a:t>
            </a:r>
            <a:r>
              <a:rPr lang="sr-Latn-ME" sz="2000" b="0" dirty="0"/>
              <a:t>Mogu se kombinovati sa parcijalnim kopijama i mogu biti osnova za diferencijalne kopije </a:t>
            </a:r>
            <a:br>
              <a:rPr lang="sr-Latn-ME" sz="2400" i="1" dirty="0"/>
            </a:br>
            <a:endParaRPr i="1" dirty="0"/>
          </a:p>
        </p:txBody>
      </p:sp>
      <p:sp>
        <p:nvSpPr>
          <p:cNvPr id="5" name="Google Shape;520;p43">
            <a:extLst>
              <a:ext uri="{FF2B5EF4-FFF2-40B4-BE49-F238E27FC236}">
                <a16:creationId xmlns:a16="http://schemas.microsoft.com/office/drawing/2014/main" id="{A7B8A53C-5811-4365-8A0D-D02E3CE81236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672735" y="4334277"/>
            <a:ext cx="7378667" cy="55422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sr-Latn-ME" dirty="0">
                <a:solidFill>
                  <a:schemeClr val="tx1"/>
                </a:solidFill>
                <a:latin typeface="Voltaire" panose="020B0604020202020204" charset="0"/>
              </a:rPr>
              <a:t>Kreiranje rezervnih kopija fajlova i grupa fajlova pomoću T-SQL-a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0E87836-5E51-486F-86A1-92DC052B8FDF}"/>
              </a:ext>
            </a:extLst>
          </p:cNvPr>
          <p:cNvPicPr/>
          <p:nvPr/>
        </p:nvPicPr>
        <p:blipFill rotWithShape="1">
          <a:blip r:embed="rId3"/>
          <a:srcRect l="1" r="658" b="11493"/>
          <a:stretch/>
        </p:blipFill>
        <p:spPr bwMode="auto">
          <a:xfrm>
            <a:off x="92598" y="2983637"/>
            <a:ext cx="3960414" cy="1071897"/>
          </a:xfrm>
          <a:prstGeom prst="rect">
            <a:avLst/>
          </a:prstGeom>
          <a:ln w="9525" cap="flat" cmpd="sng" algn="ctr">
            <a:solidFill>
              <a:schemeClr val="accent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33F534C-5367-43B2-82D4-BBAA675913CC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4125402" y="2983637"/>
            <a:ext cx="4853610" cy="1275943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3691094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44"/>
          <p:cNvSpPr txBox="1">
            <a:spLocks noGrp="1"/>
          </p:cNvSpPr>
          <p:nvPr>
            <p:ph type="title"/>
          </p:nvPr>
        </p:nvSpPr>
        <p:spPr>
          <a:xfrm>
            <a:off x="713250" y="532113"/>
            <a:ext cx="7717500" cy="138928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sr-Latn-ME" dirty="0"/>
              <a:t>02.03 </a:t>
            </a:r>
            <a:r>
              <a:rPr lang="sr-Latn-ME" i="1" dirty="0" err="1"/>
              <a:t>Differential</a:t>
            </a:r>
            <a:r>
              <a:rPr lang="sr-Latn-ME" i="1" dirty="0"/>
              <a:t> Backup</a:t>
            </a:r>
            <a:br>
              <a:rPr lang="sr-Latn-ME" i="1" dirty="0"/>
            </a:br>
            <a:r>
              <a:rPr lang="sr-Latn-ME" i="1" dirty="0"/>
              <a:t>- </a:t>
            </a:r>
            <a:r>
              <a:rPr lang="en-US" i="1" dirty="0"/>
              <a:t> </a:t>
            </a:r>
            <a:r>
              <a:rPr lang="sr-Latn-ME" sz="2400" b="0" dirty="0"/>
              <a:t>Sadrži samo podatke koji su se </a:t>
            </a:r>
            <a:r>
              <a:rPr lang="sr-Latn-ME" sz="2400" b="0" dirty="0" err="1"/>
              <a:t>promenili</a:t>
            </a:r>
            <a:r>
              <a:rPr lang="sr-Latn-ME" sz="2400" b="0" dirty="0"/>
              <a:t> od </a:t>
            </a:r>
            <a:r>
              <a:rPr lang="sr-Latn-ME" sz="2400" b="0" dirty="0" err="1"/>
              <a:t>poslednje</a:t>
            </a:r>
            <a:r>
              <a:rPr lang="sr-Latn-ME" sz="2400" b="0" dirty="0"/>
              <a:t> potpune rezervne kopije </a:t>
            </a:r>
            <a:br>
              <a:rPr lang="sr-Latn-ME" sz="2400" i="1" dirty="0"/>
            </a:br>
            <a:endParaRPr i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19D1B09-D1F9-44EF-83B4-1A876A5224DD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615499" y="1942165"/>
            <a:ext cx="5688008" cy="255987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4" name="Google Shape;520;p43">
            <a:extLst>
              <a:ext uri="{FF2B5EF4-FFF2-40B4-BE49-F238E27FC236}">
                <a16:creationId xmlns:a16="http://schemas.microsoft.com/office/drawing/2014/main" id="{DF84EA93-CABC-483F-B53E-37CD01B5719A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840493" y="4334276"/>
            <a:ext cx="7378667" cy="55422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sr-Latn-ME" sz="1800" dirty="0">
                <a:solidFill>
                  <a:schemeClr val="tx1"/>
                </a:solidFill>
                <a:latin typeface="Voltaire" panose="020B0604020202020204" charset="0"/>
              </a:rPr>
              <a:t>Ilustracija korišćenja diferencijalnih rezervnih kopija baze</a:t>
            </a:r>
          </a:p>
        </p:txBody>
      </p:sp>
    </p:spTree>
    <p:extLst>
      <p:ext uri="{BB962C8B-B14F-4D97-AF65-F5344CB8AC3E}">
        <p14:creationId xmlns:p14="http://schemas.microsoft.com/office/powerpoint/2010/main" val="27400485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44"/>
          <p:cNvSpPr txBox="1">
            <a:spLocks noGrp="1"/>
          </p:cNvSpPr>
          <p:nvPr>
            <p:ph type="title"/>
          </p:nvPr>
        </p:nvSpPr>
        <p:spPr>
          <a:xfrm>
            <a:off x="713250" y="532113"/>
            <a:ext cx="7717500" cy="62535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sr-Latn-ME" dirty="0"/>
              <a:t>02.03 </a:t>
            </a:r>
            <a:r>
              <a:rPr lang="sr-Latn-ME" i="1" dirty="0" err="1"/>
              <a:t>Differential</a:t>
            </a:r>
            <a:r>
              <a:rPr lang="sr-Latn-ME" i="1" dirty="0"/>
              <a:t> Backup</a:t>
            </a:r>
            <a:br>
              <a:rPr lang="sr-Latn-ME" i="1" dirty="0"/>
            </a:br>
            <a:br>
              <a:rPr lang="sr-Latn-ME" sz="2400" i="1" dirty="0"/>
            </a:br>
            <a:endParaRPr i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746B0C0-A0AA-41F2-A3FB-48F30A8752F3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613458" y="1062219"/>
            <a:ext cx="3958542" cy="172462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DDA4841-20EB-454C-9312-4BDB520123C2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4797745" y="1062219"/>
            <a:ext cx="3407255" cy="124789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E9FC760-2E7E-424F-905C-E18FB09D7170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4797745" y="3030719"/>
            <a:ext cx="3407255" cy="142802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323AB5A7-2680-4332-A3F5-4900B22C29C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3458" y="3018615"/>
            <a:ext cx="3958542" cy="1934832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</p:pic>
      <p:sp>
        <p:nvSpPr>
          <p:cNvPr id="9" name="Google Shape;520;p43">
            <a:extLst>
              <a:ext uri="{FF2B5EF4-FFF2-40B4-BE49-F238E27FC236}">
                <a16:creationId xmlns:a16="http://schemas.microsoft.com/office/drawing/2014/main" id="{72A3D505-8CF0-44E1-BC80-5ED52E2F87E6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785365" y="2301469"/>
            <a:ext cx="4205116" cy="44281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/>
            <a:r>
              <a:rPr lang="en-US" sz="1400" dirty="0" err="1">
                <a:solidFill>
                  <a:schemeClr val="tx1"/>
                </a:solidFill>
                <a:latin typeface="Voltaire" panose="020B0604020202020204" charset="0"/>
              </a:rPr>
              <a:t>Ilustracija</a:t>
            </a:r>
            <a:r>
              <a:rPr lang="en-US" sz="1400" dirty="0">
                <a:solidFill>
                  <a:schemeClr val="tx1"/>
                </a:solidFill>
                <a:latin typeface="Voltaire" panose="020B0604020202020204" charset="0"/>
              </a:rPr>
              <a:t> </a:t>
            </a:r>
            <a:r>
              <a:rPr lang="sr-Latn-RS" sz="1400" dirty="0">
                <a:solidFill>
                  <a:schemeClr val="tx1"/>
                </a:solidFill>
                <a:latin typeface="Voltaire" panose="020B0604020202020204" charset="0"/>
              </a:rPr>
              <a:t>promene veličine diferencijalne rezervne kopije nakon a</a:t>
            </a:r>
            <a:r>
              <a:rPr lang="sr-Latn-ME" sz="1400" dirty="0" err="1">
                <a:solidFill>
                  <a:schemeClr val="tx1"/>
                </a:solidFill>
                <a:latin typeface="Voltaire" panose="020B0604020202020204" charset="0"/>
              </a:rPr>
              <a:t>žuriranja</a:t>
            </a:r>
            <a:r>
              <a:rPr lang="sr-Latn-ME" sz="1400" dirty="0">
                <a:solidFill>
                  <a:schemeClr val="tx1"/>
                </a:solidFill>
                <a:latin typeface="Voltaire" panose="020B0604020202020204" charset="0"/>
              </a:rPr>
              <a:t> prvih 100 zapisa u tabeli</a:t>
            </a:r>
            <a:endParaRPr lang="sr-Latn-RS" sz="1400" dirty="0">
              <a:solidFill>
                <a:schemeClr val="tx1"/>
              </a:solidFill>
              <a:latin typeface="Voltaire" panose="020B0604020202020204" charset="0"/>
            </a:endParaRPr>
          </a:p>
        </p:txBody>
      </p:sp>
      <p:sp>
        <p:nvSpPr>
          <p:cNvPr id="10" name="Google Shape;520;p43">
            <a:extLst>
              <a:ext uri="{FF2B5EF4-FFF2-40B4-BE49-F238E27FC236}">
                <a16:creationId xmlns:a16="http://schemas.microsoft.com/office/drawing/2014/main" id="{2C097E98-7C90-40E3-975D-EDE3F3F20EBC}"/>
              </a:ext>
            </a:extLst>
          </p:cNvPr>
          <p:cNvSpPr txBox="1">
            <a:spLocks/>
          </p:cNvSpPr>
          <p:nvPr/>
        </p:nvSpPr>
        <p:spPr>
          <a:xfrm>
            <a:off x="4718690" y="4458746"/>
            <a:ext cx="4205116" cy="4428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ajawal"/>
              <a:buNone/>
              <a:defRPr sz="1600" b="0" i="0" u="none" strike="noStrike" cap="none">
                <a:solidFill>
                  <a:schemeClr val="lt2"/>
                </a:solidFill>
                <a:latin typeface="Tajawal"/>
                <a:ea typeface="Tajawal"/>
                <a:cs typeface="Tajawal"/>
                <a:sym typeface="Tajawal"/>
              </a:defRPr>
            </a:lvl9pPr>
          </a:lstStyle>
          <a:p>
            <a:pPr marL="0" indent="0" algn="l"/>
            <a:r>
              <a:rPr lang="en-US" sz="1400" dirty="0" err="1">
                <a:solidFill>
                  <a:schemeClr val="tx1"/>
                </a:solidFill>
                <a:latin typeface="Voltaire" panose="020B0604020202020204" charset="0"/>
              </a:rPr>
              <a:t>Ilustracija</a:t>
            </a:r>
            <a:r>
              <a:rPr lang="en-US" sz="1400" dirty="0">
                <a:solidFill>
                  <a:schemeClr val="tx1"/>
                </a:solidFill>
                <a:latin typeface="Voltaire" panose="020B0604020202020204" charset="0"/>
              </a:rPr>
              <a:t> </a:t>
            </a:r>
            <a:r>
              <a:rPr lang="sr-Latn-RS" sz="1400" dirty="0">
                <a:solidFill>
                  <a:schemeClr val="tx1"/>
                </a:solidFill>
                <a:latin typeface="Voltaire" panose="020B0604020202020204" charset="0"/>
              </a:rPr>
              <a:t>promene veličine diferencijalne rezervne kopije nakon a</a:t>
            </a:r>
            <a:r>
              <a:rPr lang="sr-Latn-ME" sz="1400" dirty="0" err="1">
                <a:solidFill>
                  <a:schemeClr val="tx1"/>
                </a:solidFill>
                <a:latin typeface="Voltaire" panose="020B0604020202020204" charset="0"/>
              </a:rPr>
              <a:t>žuriranja</a:t>
            </a:r>
            <a:r>
              <a:rPr lang="sr-Latn-ME" sz="1400" dirty="0">
                <a:solidFill>
                  <a:schemeClr val="tx1"/>
                </a:solidFill>
                <a:latin typeface="Voltaire" panose="020B0604020202020204" charset="0"/>
              </a:rPr>
              <a:t> drugih 100 zapisa u tabeli</a:t>
            </a:r>
            <a:endParaRPr lang="sr-Latn-RS" sz="1400" dirty="0">
              <a:solidFill>
                <a:schemeClr val="tx1"/>
              </a:solidFill>
              <a:latin typeface="Voltaire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20932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44"/>
          <p:cNvSpPr txBox="1">
            <a:spLocks noGrp="1"/>
          </p:cNvSpPr>
          <p:nvPr>
            <p:ph type="title"/>
          </p:nvPr>
        </p:nvSpPr>
        <p:spPr>
          <a:xfrm>
            <a:off x="713250" y="532113"/>
            <a:ext cx="7717500" cy="138928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sr-Latn-ME" dirty="0"/>
              <a:t>02.04 </a:t>
            </a:r>
            <a:r>
              <a:rPr lang="sr-Latn-ME" i="1" dirty="0" err="1"/>
              <a:t>Transaction</a:t>
            </a:r>
            <a:r>
              <a:rPr lang="sr-Latn-ME" i="1" dirty="0"/>
              <a:t> Log Backup</a:t>
            </a:r>
            <a:br>
              <a:rPr lang="sr-Latn-ME" i="1" dirty="0"/>
            </a:br>
            <a:r>
              <a:rPr lang="en-US" i="1" dirty="0"/>
              <a:t>-  </a:t>
            </a:r>
            <a:r>
              <a:rPr lang="sr-Latn-RS" sz="2400" b="0" i="1" dirty="0"/>
              <a:t>Backup</a:t>
            </a:r>
            <a:r>
              <a:rPr lang="sr-Latn-RS" sz="2400" b="0" dirty="0"/>
              <a:t> podataka mora da sadrži neki deo transakcionog loga, da bi baza podataka nakon oporavka bila transakciono-konzistentna</a:t>
            </a:r>
            <a:br>
              <a:rPr lang="sr-Latn-RS" dirty="0"/>
            </a:br>
            <a:br>
              <a:rPr lang="sr-Latn-ME" sz="2400" i="1" dirty="0"/>
            </a:br>
            <a:endParaRPr i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AFC53A-AC7F-492E-888A-FCCAFB79F8B2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2410210" y="1872757"/>
            <a:ext cx="3874843" cy="41902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72426A9-AD39-4AD9-8DD3-5114C7CE459D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1576832" y="2291786"/>
            <a:ext cx="5541598" cy="259272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6" name="Google Shape;520;p43">
            <a:extLst>
              <a:ext uri="{FF2B5EF4-FFF2-40B4-BE49-F238E27FC236}">
                <a16:creationId xmlns:a16="http://schemas.microsoft.com/office/drawing/2014/main" id="{A8ACB539-095A-4AE9-A2AB-B265FB11AF2D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733675" y="4700682"/>
            <a:ext cx="3067051" cy="44281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lnSpc>
                <a:spcPct val="150000"/>
              </a:lnSpc>
            </a:pPr>
            <a:r>
              <a:rPr lang="sr-Latn-ME" dirty="0">
                <a:solidFill>
                  <a:schemeClr val="tx1"/>
                </a:solidFill>
                <a:latin typeface="Voltaire" panose="020B0604020202020204" charset="0"/>
              </a:rPr>
              <a:t>Ilustracija </a:t>
            </a:r>
            <a:r>
              <a:rPr lang="sr-Latn-ME" dirty="0" err="1">
                <a:solidFill>
                  <a:schemeClr val="tx1"/>
                </a:solidFill>
                <a:latin typeface="Voltaire" panose="020B0604020202020204" charset="0"/>
              </a:rPr>
              <a:t>oslobadjanja</a:t>
            </a:r>
            <a:r>
              <a:rPr lang="sr-Latn-ME" dirty="0">
                <a:solidFill>
                  <a:schemeClr val="tx1"/>
                </a:solidFill>
                <a:latin typeface="Voltaire" panose="020B0604020202020204" charset="0"/>
              </a:rPr>
              <a:t> VLF-ova</a:t>
            </a:r>
          </a:p>
        </p:txBody>
      </p:sp>
    </p:spTree>
    <p:extLst>
      <p:ext uri="{BB962C8B-B14F-4D97-AF65-F5344CB8AC3E}">
        <p14:creationId xmlns:p14="http://schemas.microsoft.com/office/powerpoint/2010/main" val="15689604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44"/>
          <p:cNvSpPr txBox="1">
            <a:spLocks noGrp="1"/>
          </p:cNvSpPr>
          <p:nvPr>
            <p:ph type="title"/>
          </p:nvPr>
        </p:nvSpPr>
        <p:spPr>
          <a:xfrm>
            <a:off x="713250" y="532113"/>
            <a:ext cx="7717500" cy="92629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sr-Latn-ME" dirty="0"/>
              <a:t>02.04 </a:t>
            </a:r>
            <a:r>
              <a:rPr lang="sr-Latn-ME" i="1" dirty="0" err="1"/>
              <a:t>Partial</a:t>
            </a:r>
            <a:r>
              <a:rPr lang="sr-Latn-ME" i="1" dirty="0"/>
              <a:t> Backup</a:t>
            </a:r>
            <a:br>
              <a:rPr lang="sr-Latn-ME" i="1" dirty="0"/>
            </a:br>
            <a:r>
              <a:rPr lang="en-US" i="1" dirty="0"/>
              <a:t>-  </a:t>
            </a:r>
            <a:r>
              <a:rPr lang="sr-Latn-RS" sz="2400" b="0" dirty="0"/>
              <a:t>Ne sadrže </a:t>
            </a:r>
            <a:r>
              <a:rPr lang="sr-Latn-RS" sz="2400" b="0" i="1" dirty="0"/>
              <a:t>read-only</a:t>
            </a:r>
            <a:r>
              <a:rPr lang="sr-Latn-RS" sz="2400" b="0" dirty="0"/>
              <a:t> grupe fajlova</a:t>
            </a:r>
            <a:br>
              <a:rPr lang="sr-Latn-RS" dirty="0"/>
            </a:br>
            <a:br>
              <a:rPr lang="sr-Latn-ME" sz="2400" i="1" dirty="0"/>
            </a:br>
            <a:endParaRPr i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9351F74-4E4D-4FA2-80AD-04E6FDD762DC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596486" y="1624796"/>
            <a:ext cx="5951027" cy="321342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96F33D6-93DF-4A63-B0BC-7DD6E6400B5C}"/>
              </a:ext>
            </a:extLst>
          </p:cNvPr>
          <p:cNvSpPr/>
          <p:nvPr/>
        </p:nvSpPr>
        <p:spPr>
          <a:xfrm>
            <a:off x="2418835" y="4835723"/>
            <a:ext cx="415722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r-Latn-ME" dirty="0">
                <a:latin typeface="Voltaire" panose="020B0604020202020204" charset="0"/>
              </a:rPr>
              <a:t>Ilustracija korišćenja parcijalnih rezervnih kopija i problemi</a:t>
            </a:r>
            <a:endParaRPr lang="sr-Latn-RS" dirty="0">
              <a:latin typeface="Voltaire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90082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44"/>
          <p:cNvSpPr txBox="1">
            <a:spLocks noGrp="1"/>
          </p:cNvSpPr>
          <p:nvPr>
            <p:ph type="title"/>
          </p:nvPr>
        </p:nvSpPr>
        <p:spPr>
          <a:xfrm>
            <a:off x="713250" y="532113"/>
            <a:ext cx="8293590" cy="109094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sr-Latn-ME" dirty="0"/>
              <a:t>02.04 </a:t>
            </a:r>
            <a:r>
              <a:rPr lang="sr-Latn-ME" i="1" dirty="0"/>
              <a:t>Tail-log Backup</a:t>
            </a:r>
            <a:br>
              <a:rPr lang="sr-Latn-ME" i="1" dirty="0"/>
            </a:br>
            <a:r>
              <a:rPr lang="en-US" i="1" dirty="0"/>
              <a:t>-  </a:t>
            </a:r>
            <a:r>
              <a:rPr lang="sr-Latn-RS" sz="2400" b="0" dirty="0"/>
              <a:t>Kopira sve logove generisane od poslednjeg zakazanog </a:t>
            </a:r>
            <a:r>
              <a:rPr lang="sr-Latn-RS" sz="2400" b="0" i="1" dirty="0"/>
              <a:t>backup-a loga</a:t>
            </a:r>
            <a:br>
              <a:rPr lang="sr-Latn-RS" dirty="0"/>
            </a:br>
            <a:br>
              <a:rPr lang="sr-Latn-ME" sz="2400" i="1" dirty="0"/>
            </a:br>
            <a:endParaRPr i="1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E011D7A-FE6E-4F8C-AE5C-E4E662ED284F}"/>
              </a:ext>
            </a:extLst>
          </p:cNvPr>
          <p:cNvSpPr/>
          <p:nvPr/>
        </p:nvSpPr>
        <p:spPr>
          <a:xfrm>
            <a:off x="2258378" y="4716058"/>
            <a:ext cx="492314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r-Latn-ME" dirty="0">
                <a:latin typeface="Voltaire" panose="020B0604020202020204" charset="0"/>
              </a:rPr>
              <a:t>Simuliranje kvara baze sa postojećim transakcijama koje nisu sačuvane</a:t>
            </a:r>
            <a:endParaRPr lang="sr-Latn-RS" dirty="0">
              <a:latin typeface="Voltaire" panose="020B060402020202020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179661-F8E7-4ACB-9AC4-E4ED55EEE9B3}"/>
              </a:ext>
            </a:extLst>
          </p:cNvPr>
          <p:cNvPicPr/>
          <p:nvPr/>
        </p:nvPicPr>
        <p:blipFill rotWithShape="1">
          <a:blip r:embed="rId3"/>
          <a:srcRect r="1567" b="48609"/>
          <a:stretch/>
        </p:blipFill>
        <p:spPr>
          <a:xfrm>
            <a:off x="325755" y="1623060"/>
            <a:ext cx="3979546" cy="3074566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CBC0DAC-9F95-407E-8507-98F1B14ADD4B}"/>
              </a:ext>
            </a:extLst>
          </p:cNvPr>
          <p:cNvPicPr/>
          <p:nvPr/>
        </p:nvPicPr>
        <p:blipFill rotWithShape="1">
          <a:blip r:embed="rId3"/>
          <a:srcRect l="2" t="52434" r="43"/>
          <a:stretch/>
        </p:blipFill>
        <p:spPr>
          <a:xfrm>
            <a:off x="4495800" y="1641492"/>
            <a:ext cx="4248598" cy="3056134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9507317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44"/>
          <p:cNvSpPr txBox="1">
            <a:spLocks noGrp="1"/>
          </p:cNvSpPr>
          <p:nvPr>
            <p:ph type="title"/>
          </p:nvPr>
        </p:nvSpPr>
        <p:spPr>
          <a:xfrm>
            <a:off x="713250" y="532113"/>
            <a:ext cx="8268704" cy="66007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sr-Latn-ME" dirty="0"/>
              <a:t>02.04 </a:t>
            </a:r>
            <a:r>
              <a:rPr lang="sr-Latn-ME" i="1" dirty="0"/>
              <a:t>Tail-log Backup</a:t>
            </a:r>
            <a:br>
              <a:rPr lang="sr-Latn-RS" dirty="0"/>
            </a:br>
            <a:br>
              <a:rPr lang="sr-Latn-ME" sz="2400" i="1" dirty="0"/>
            </a:br>
            <a:endParaRPr i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E674032-6A6D-46CF-BAA7-18F6D3C4119C}"/>
              </a:ext>
            </a:extLst>
          </p:cNvPr>
          <p:cNvPicPr/>
          <p:nvPr/>
        </p:nvPicPr>
        <p:blipFill rotWithShape="1">
          <a:blip r:embed="rId3"/>
          <a:srcRect r="1628"/>
          <a:stretch/>
        </p:blipFill>
        <p:spPr>
          <a:xfrm>
            <a:off x="1803284" y="1382070"/>
            <a:ext cx="5060210" cy="224676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165D5A0-AAD7-4DF3-8F07-A426FB7859E8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8295652" y="2223808"/>
            <a:ext cx="4310049" cy="56329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3896AF4-A408-46BA-87CB-7E4FC4972DB0}"/>
              </a:ext>
            </a:extLst>
          </p:cNvPr>
          <p:cNvSpPr/>
          <p:nvPr/>
        </p:nvSpPr>
        <p:spPr>
          <a:xfrm>
            <a:off x="2309081" y="4730509"/>
            <a:ext cx="529275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r-Latn-ME" dirty="0" err="1">
                <a:latin typeface="Voltaire" panose="020B0604020202020204" charset="0"/>
              </a:rPr>
              <a:t>Poslednje</a:t>
            </a:r>
            <a:r>
              <a:rPr lang="sr-Latn-ME" dirty="0">
                <a:latin typeface="Voltaire" panose="020B0604020202020204" charset="0"/>
              </a:rPr>
              <a:t> 2 transakcije fale ukoliko iskoristimo ovu </a:t>
            </a:r>
            <a:r>
              <a:rPr lang="sr-Latn-ME" i="1" dirty="0">
                <a:latin typeface="Voltaire" panose="020B0604020202020204" charset="0"/>
              </a:rPr>
              <a:t>restore</a:t>
            </a:r>
            <a:r>
              <a:rPr lang="sr-Latn-ME" dirty="0">
                <a:latin typeface="Voltaire" panose="020B0604020202020204" charset="0"/>
              </a:rPr>
              <a:t> sekvencu</a:t>
            </a:r>
            <a:endParaRPr lang="sr-Latn-RS" dirty="0">
              <a:latin typeface="Voltaire" panose="020B060402020202020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33E6EB7-D54B-4E04-96C0-931EA8F8E6DC}"/>
              </a:ext>
            </a:extLst>
          </p:cNvPr>
          <p:cNvSpPr/>
          <p:nvPr/>
        </p:nvSpPr>
        <p:spPr>
          <a:xfrm>
            <a:off x="8018541" y="2829682"/>
            <a:ext cx="529275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r-Latn-ME" dirty="0">
                <a:latin typeface="Voltaire" panose="020B0604020202020204" charset="0"/>
              </a:rPr>
              <a:t>Kreira se rezervna kopija loga sve do kvara (bez data fajla)</a:t>
            </a:r>
            <a:endParaRPr lang="sr-Latn-RS" dirty="0">
              <a:latin typeface="Voltaire" panose="020B060402020202020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135B4D0-F410-4827-A470-821FCACC3825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3366356" y="3747994"/>
            <a:ext cx="2164704" cy="965173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4875499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44"/>
          <p:cNvSpPr txBox="1">
            <a:spLocks noGrp="1"/>
          </p:cNvSpPr>
          <p:nvPr>
            <p:ph type="title"/>
          </p:nvPr>
        </p:nvSpPr>
        <p:spPr>
          <a:xfrm>
            <a:off x="713250" y="532113"/>
            <a:ext cx="8268704" cy="66007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sr-Latn-ME" dirty="0"/>
              <a:t>02.04 </a:t>
            </a:r>
            <a:r>
              <a:rPr lang="sr-Latn-ME" i="1" dirty="0"/>
              <a:t>Tail-log Backup</a:t>
            </a:r>
            <a:br>
              <a:rPr lang="sr-Latn-RS" dirty="0"/>
            </a:br>
            <a:br>
              <a:rPr lang="sr-Latn-ME" sz="2400" i="1" dirty="0"/>
            </a:br>
            <a:endParaRPr i="1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33E6EB7-D54B-4E04-96C0-931EA8F8E6DC}"/>
              </a:ext>
            </a:extLst>
          </p:cNvPr>
          <p:cNvSpPr/>
          <p:nvPr/>
        </p:nvSpPr>
        <p:spPr>
          <a:xfrm>
            <a:off x="5580697" y="1749035"/>
            <a:ext cx="266762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r-Latn-ME" sz="1800" dirty="0">
                <a:latin typeface="Voltaire" panose="020B0604020202020204" charset="0"/>
              </a:rPr>
              <a:t>Kreira se dodatna rezervna kopija loga sve do kvara (bez data fajla</a:t>
            </a:r>
            <a:endParaRPr lang="sr-Latn-RS" sz="1800" dirty="0">
              <a:latin typeface="Voltaire" panose="020B060402020202020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7386245-5EB7-48D2-9120-087627A7F014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62046" y="1092683"/>
            <a:ext cx="4747381" cy="3951308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993B9C8-4301-4B34-A828-58CD0A459643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5630539" y="3068337"/>
            <a:ext cx="2567940" cy="1543050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725497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44"/>
          <p:cNvSpPr txBox="1">
            <a:spLocks noGrp="1"/>
          </p:cNvSpPr>
          <p:nvPr>
            <p:ph type="title"/>
          </p:nvPr>
        </p:nvSpPr>
        <p:spPr>
          <a:xfrm>
            <a:off x="713250" y="532113"/>
            <a:ext cx="8268704" cy="175967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sr-Latn-ME" dirty="0"/>
              <a:t>02.04 </a:t>
            </a:r>
            <a:r>
              <a:rPr lang="sr-Latn-ME" i="1" dirty="0"/>
              <a:t>Copy-only  </a:t>
            </a:r>
            <a:r>
              <a:rPr lang="sr-Latn-ME" dirty="0"/>
              <a:t>opcija</a:t>
            </a:r>
            <a:br>
              <a:rPr lang="sr-Latn-ME" dirty="0"/>
            </a:br>
            <a:r>
              <a:rPr lang="en-US" dirty="0"/>
              <a:t>-  </a:t>
            </a:r>
            <a:r>
              <a:rPr lang="sr-Latn-ME" sz="2400" b="0" dirty="0"/>
              <a:t>Kreiranje potpune rezervne kopije ne utiče na buduće diferencijalne kopije</a:t>
            </a:r>
            <a:br>
              <a:rPr lang="sr-Latn-ME" sz="2400" b="0" dirty="0"/>
            </a:br>
            <a:r>
              <a:rPr lang="en-US" sz="2400" b="0" dirty="0"/>
              <a:t>-  </a:t>
            </a:r>
            <a:r>
              <a:rPr lang="sr-Latn-ME" sz="2400" b="0" dirty="0"/>
              <a:t>Kreiranje rezervne kopije loga ne utiče na </a:t>
            </a:r>
            <a:r>
              <a:rPr lang="sr-Latn-ME" sz="2400" b="0" i="1" dirty="0"/>
              <a:t>Log Backup</a:t>
            </a:r>
            <a:r>
              <a:rPr lang="en-US" sz="2400" b="0" dirty="0"/>
              <a:t> </a:t>
            </a:r>
            <a:r>
              <a:rPr lang="en-US" sz="2400" b="0" i="1" dirty="0"/>
              <a:t>Chain</a:t>
            </a:r>
            <a:br>
              <a:rPr lang="sr-Latn-RS" sz="2400" b="0" dirty="0"/>
            </a:br>
            <a:br>
              <a:rPr lang="sr-Latn-ME" sz="2000" b="0" i="1" dirty="0"/>
            </a:br>
            <a:endParaRPr b="0" i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DDE4DFC-607A-4806-9C47-0794BAD719E8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911925" y="2205290"/>
            <a:ext cx="5320149" cy="269690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48BA742-C69A-4D27-A8BB-B61065077A7B}"/>
              </a:ext>
            </a:extLst>
          </p:cNvPr>
          <p:cNvSpPr/>
          <p:nvPr/>
        </p:nvSpPr>
        <p:spPr>
          <a:xfrm>
            <a:off x="1911925" y="4838255"/>
            <a:ext cx="536076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r-Latn-ME" dirty="0">
                <a:latin typeface="Voltaire" panose="020B0604020202020204" charset="0"/>
              </a:rPr>
              <a:t>Ilustracija kreiranja potpune rezervne kopije bez korišćenja opcije COPY_ONLY</a:t>
            </a:r>
            <a:endParaRPr lang="sr-Latn-RS" dirty="0">
              <a:latin typeface="Voltaire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19247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44"/>
          <p:cNvSpPr txBox="1">
            <a:spLocks noGrp="1"/>
          </p:cNvSpPr>
          <p:nvPr>
            <p:ph type="title"/>
          </p:nvPr>
        </p:nvSpPr>
        <p:spPr>
          <a:xfrm>
            <a:off x="713250" y="532113"/>
            <a:ext cx="8268704" cy="62535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sr-Latn-ME" dirty="0"/>
              <a:t>02.04 </a:t>
            </a:r>
            <a:r>
              <a:rPr lang="sr-Latn-ME" i="1" dirty="0"/>
              <a:t>Copy-only  </a:t>
            </a:r>
            <a:r>
              <a:rPr lang="sr-Latn-ME" dirty="0"/>
              <a:t>opcija</a:t>
            </a:r>
            <a:br>
              <a:rPr lang="sr-Latn-RS" sz="2400" b="0" dirty="0"/>
            </a:br>
            <a:br>
              <a:rPr lang="sr-Latn-ME" sz="2000" b="0" i="1" dirty="0"/>
            </a:br>
            <a:endParaRPr b="0" i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6E3B230-E84B-41B1-BC68-6612141CC1E5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38896" y="1567837"/>
            <a:ext cx="8843058" cy="143579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7E8F3C1-C281-4B84-8EB2-6E98DC28E774}"/>
              </a:ext>
            </a:extLst>
          </p:cNvPr>
          <p:cNvPicPr/>
          <p:nvPr/>
        </p:nvPicPr>
        <p:blipFill rotWithShape="1">
          <a:blip r:embed="rId4"/>
          <a:srcRect t="-1" r="1451" b="4587"/>
          <a:stretch/>
        </p:blipFill>
        <p:spPr bwMode="auto">
          <a:xfrm>
            <a:off x="150471" y="3413998"/>
            <a:ext cx="8843058" cy="1435790"/>
          </a:xfrm>
          <a:prstGeom prst="rect">
            <a:avLst/>
          </a:prstGeom>
          <a:ln>
            <a:solidFill>
              <a:schemeClr val="accent1"/>
            </a:solidFill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8AFA2B0-4491-4D85-A9B2-67F124BB3533}"/>
              </a:ext>
            </a:extLst>
          </p:cNvPr>
          <p:cNvSpPr/>
          <p:nvPr/>
        </p:nvSpPr>
        <p:spPr>
          <a:xfrm>
            <a:off x="2251378" y="3003628"/>
            <a:ext cx="392767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r-Latn-ME" dirty="0" err="1">
                <a:latin typeface="Voltaire" panose="020B0604020202020204" charset="0"/>
              </a:rPr>
              <a:t>Pregled</a:t>
            </a:r>
            <a:r>
              <a:rPr lang="sr-Latn-ME" dirty="0">
                <a:latin typeface="Voltaire" panose="020B0604020202020204" charset="0"/>
              </a:rPr>
              <a:t> rezervnih kopija </a:t>
            </a:r>
            <a:r>
              <a:rPr lang="sr-Latn-ME" i="1" dirty="0">
                <a:latin typeface="Voltaire" panose="020B0604020202020204" charset="0"/>
              </a:rPr>
              <a:t>– ad hoc backup </a:t>
            </a:r>
            <a:r>
              <a:rPr lang="sr-Latn-ME" dirty="0">
                <a:latin typeface="Voltaire" panose="020B0604020202020204" charset="0"/>
              </a:rPr>
              <a:t>bez COPY_ONLY</a:t>
            </a:r>
            <a:endParaRPr lang="sr-Latn-RS" dirty="0">
              <a:latin typeface="Voltaire" panose="020B060402020202020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DA90DC2-ED04-41A5-9DF6-83A5B56E90FD}"/>
              </a:ext>
            </a:extLst>
          </p:cNvPr>
          <p:cNvSpPr/>
          <p:nvPr/>
        </p:nvSpPr>
        <p:spPr>
          <a:xfrm>
            <a:off x="2296262" y="4835723"/>
            <a:ext cx="383791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r-Latn-ME" dirty="0" err="1">
                <a:latin typeface="Voltaire" panose="020B0604020202020204" charset="0"/>
              </a:rPr>
              <a:t>Pregled</a:t>
            </a:r>
            <a:r>
              <a:rPr lang="sr-Latn-ME" dirty="0">
                <a:latin typeface="Voltaire" panose="020B0604020202020204" charset="0"/>
              </a:rPr>
              <a:t> rezervnih kopija </a:t>
            </a:r>
            <a:r>
              <a:rPr lang="sr-Latn-ME" i="1" dirty="0">
                <a:latin typeface="Voltaire" panose="020B0604020202020204" charset="0"/>
              </a:rPr>
              <a:t>– ad hoc backup </a:t>
            </a:r>
            <a:r>
              <a:rPr lang="sr-Latn-ME" dirty="0">
                <a:latin typeface="Voltaire" panose="020B0604020202020204" charset="0"/>
              </a:rPr>
              <a:t>sa COPY_ONLY</a:t>
            </a:r>
            <a:endParaRPr lang="sr-Latn-RS" dirty="0">
              <a:latin typeface="Voltaire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1571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615;p44">
            <a:extLst>
              <a:ext uri="{FF2B5EF4-FFF2-40B4-BE49-F238E27FC236}">
                <a16:creationId xmlns:a16="http://schemas.microsoft.com/office/drawing/2014/main" id="{CAA40535-46E0-42CB-B10B-4363B1817E7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12425" y="325683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sr-Latn-ME" dirty="0"/>
              <a:t>03 Restore &amp; Recover – baza ostaje logički konzistentna</a:t>
            </a:r>
            <a:endParaRPr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2C2FD8A-AD3F-4FFB-8F92-47A42F0FA966}"/>
              </a:ext>
            </a:extLst>
          </p:cNvPr>
          <p:cNvSpPr/>
          <p:nvPr/>
        </p:nvSpPr>
        <p:spPr>
          <a:xfrm>
            <a:off x="612425" y="1390916"/>
            <a:ext cx="8623139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r-Latn-RS" sz="2000" dirty="0">
                <a:latin typeface="Tajawal" panose="020B0604020202020204" charset="-78"/>
                <a:cs typeface="Tajawal" panose="020B0604020202020204" charset="-78"/>
              </a:rPr>
              <a:t>Da bi se izvršilo </a:t>
            </a:r>
            <a:r>
              <a:rPr lang="sr-Latn-RS" sz="2000" b="1" dirty="0">
                <a:solidFill>
                  <a:schemeClr val="accent5">
                    <a:lumMod val="75000"/>
                  </a:schemeClr>
                </a:solidFill>
                <a:latin typeface="Tajawal" panose="020B0604020202020204" charset="-78"/>
                <a:cs typeface="Tajawal" panose="020B0604020202020204" charset="-78"/>
              </a:rPr>
              <a:t>vraćanje fajlova</a:t>
            </a:r>
            <a:r>
              <a:rPr lang="sr-Latn-RS" sz="2000" dirty="0">
                <a:latin typeface="Tajawal" panose="020B0604020202020204" charset="-78"/>
                <a:cs typeface="Tajawal" panose="020B0604020202020204" charset="-78"/>
              </a:rPr>
              <a:t>, </a:t>
            </a:r>
            <a:r>
              <a:rPr lang="sr-Latn-RS" sz="2000" i="1" dirty="0">
                <a:latin typeface="Tajawal" panose="020B0604020202020204" charset="-78"/>
                <a:cs typeface="Tajawal" panose="020B0604020202020204" charset="-78"/>
              </a:rPr>
              <a:t>database</a:t>
            </a:r>
            <a:r>
              <a:rPr lang="sr-Latn-RS" sz="2000" dirty="0">
                <a:latin typeface="Tajawal" panose="020B0604020202020204" charset="-78"/>
                <a:cs typeface="Tajawal" panose="020B0604020202020204" charset="-78"/>
              </a:rPr>
              <a:t> </a:t>
            </a:r>
            <a:r>
              <a:rPr lang="sr-Latn-RS" sz="2000" i="1" dirty="0">
                <a:latin typeface="Tajawal" panose="020B0604020202020204" charset="-78"/>
                <a:cs typeface="Tajawal" panose="020B0604020202020204" charset="-78"/>
              </a:rPr>
              <a:t>engine </a:t>
            </a:r>
            <a:r>
              <a:rPr lang="sr-Latn-RS" sz="2000" dirty="0">
                <a:latin typeface="Tajawal" panose="020B0604020202020204" charset="-78"/>
                <a:cs typeface="Tajawal" panose="020B0604020202020204" charset="-78"/>
              </a:rPr>
              <a:t>izvršava dva koraka: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sr-Latn-RS" sz="2000" dirty="0">
                <a:latin typeface="Tajawal" panose="020B0604020202020204" charset="-78"/>
                <a:cs typeface="Tajawal" panose="020B0604020202020204" charset="-78"/>
              </a:rPr>
              <a:t>Kreiraju se svi fajlovi baze podataka koji nedostaju.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sr-Latn-RS" sz="2000" dirty="0">
                <a:latin typeface="Tajawal" panose="020B0604020202020204" charset="-78"/>
                <a:cs typeface="Tajawal" panose="020B0604020202020204" charset="-78"/>
              </a:rPr>
              <a:t>Kopira podatke sa uređaja za </a:t>
            </a:r>
            <a:r>
              <a:rPr lang="sr-Latn-RS" sz="2000" i="1" dirty="0">
                <a:latin typeface="Tajawal" panose="020B0604020202020204" charset="-78"/>
                <a:cs typeface="Tajawal" panose="020B0604020202020204" charset="-78"/>
              </a:rPr>
              <a:t>backup </a:t>
            </a:r>
            <a:r>
              <a:rPr lang="sr-Latn-RS" sz="2000" dirty="0">
                <a:latin typeface="Tajawal" panose="020B0604020202020204" charset="-78"/>
                <a:cs typeface="Tajawal" panose="020B0604020202020204" charset="-78"/>
              </a:rPr>
              <a:t>u fajlove baze podataka.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0C679BF-61A1-4953-92C4-E8F895A8CA0F}"/>
              </a:ext>
            </a:extLst>
          </p:cNvPr>
          <p:cNvSpPr/>
          <p:nvPr/>
        </p:nvSpPr>
        <p:spPr>
          <a:xfrm>
            <a:off x="612425" y="2743001"/>
            <a:ext cx="8623139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r-Latn-RS" sz="2000" dirty="0">
                <a:latin typeface="Tajawal" panose="020B0604020202020204" charset="-78"/>
                <a:cs typeface="Tajawal" panose="020B0604020202020204" charset="-78"/>
              </a:rPr>
              <a:t>Da bi se izvršilo </a:t>
            </a:r>
            <a:r>
              <a:rPr lang="sr-Latn-RS" sz="2000" b="1" dirty="0">
                <a:solidFill>
                  <a:schemeClr val="accent5">
                    <a:lumMod val="75000"/>
                  </a:schemeClr>
                </a:solidFill>
                <a:latin typeface="Tajawal" panose="020B0604020202020204" charset="-78"/>
                <a:cs typeface="Tajawal" panose="020B0604020202020204" charset="-78"/>
              </a:rPr>
              <a:t>vraćanje cele baze podataka</a:t>
            </a:r>
            <a:r>
              <a:rPr lang="sr-Latn-RS" sz="2000" dirty="0">
                <a:latin typeface="Tajawal" panose="020B0604020202020204" charset="-78"/>
                <a:cs typeface="Tajawal" panose="020B0604020202020204" charset="-78"/>
              </a:rPr>
              <a:t>, </a:t>
            </a:r>
            <a:r>
              <a:rPr lang="sr-Latn-RS" sz="2000" i="1" dirty="0">
                <a:latin typeface="Tajawal" panose="020B0604020202020204" charset="-78"/>
                <a:cs typeface="Tajawal" panose="020B0604020202020204" charset="-78"/>
              </a:rPr>
              <a:t>database engine </a:t>
            </a:r>
            <a:r>
              <a:rPr lang="sr-Latn-RS" sz="2000" dirty="0">
                <a:latin typeface="Tajawal" panose="020B0604020202020204" charset="-78"/>
                <a:cs typeface="Tajawal" panose="020B0604020202020204" charset="-78"/>
              </a:rPr>
              <a:t>izvršava tri koraka: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sr-Latn-RS" sz="2000" dirty="0">
                <a:latin typeface="Tajawal" panose="020B0604020202020204" charset="-78"/>
                <a:cs typeface="Tajawal" panose="020B0604020202020204" charset="-78"/>
              </a:rPr>
              <a:t>Kreira bazu podataka i fajlove transakcionih logova, ukoliko ne postoje.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sr-Latn-RS" sz="2000" dirty="0">
                <a:latin typeface="Tajawal" panose="020B0604020202020204" charset="-78"/>
                <a:cs typeface="Tajawal" panose="020B0604020202020204" charset="-78"/>
              </a:rPr>
              <a:t>Kopira sve podatke, logove i indekse sa </a:t>
            </a:r>
            <a:r>
              <a:rPr lang="sr-Latn-RS" sz="2000" i="1" dirty="0">
                <a:latin typeface="Tajawal" panose="020B0604020202020204" charset="-78"/>
                <a:cs typeface="Tajawal" panose="020B0604020202020204" charset="-78"/>
              </a:rPr>
              <a:t>backup </a:t>
            </a:r>
            <a:r>
              <a:rPr lang="sr-Latn-RS" sz="2000" dirty="0">
                <a:latin typeface="Tajawal" panose="020B0604020202020204" charset="-78"/>
                <a:cs typeface="Tajawal" panose="020B0604020202020204" charset="-78"/>
              </a:rPr>
              <a:t>medija u fajlove baze podataka.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sr-Latn-RS" sz="2000" dirty="0">
                <a:latin typeface="Tajawal" panose="020B0604020202020204" charset="-78"/>
                <a:cs typeface="Tajawal" panose="020B0604020202020204" charset="-78"/>
              </a:rPr>
              <a:t>Primenjuje transakcioni log u tzv. procesu oporavka baze podataka.</a:t>
            </a:r>
          </a:p>
        </p:txBody>
      </p:sp>
    </p:spTree>
    <p:extLst>
      <p:ext uri="{BB962C8B-B14F-4D97-AF65-F5344CB8AC3E}">
        <p14:creationId xmlns:p14="http://schemas.microsoft.com/office/powerpoint/2010/main" val="26958141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615;p44">
            <a:extLst>
              <a:ext uri="{FF2B5EF4-FFF2-40B4-BE49-F238E27FC236}">
                <a16:creationId xmlns:a16="http://schemas.microsoft.com/office/drawing/2014/main" id="{CAA40535-46E0-42CB-B10B-4363B1817E7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12425" y="325683"/>
            <a:ext cx="7717500" cy="211657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sr-Latn-ME" dirty="0"/>
              <a:t>03.01 </a:t>
            </a:r>
            <a:r>
              <a:rPr lang="sr-Latn-ME" i="1" dirty="0"/>
              <a:t>Full Recovery Model</a:t>
            </a:r>
            <a:br>
              <a:rPr lang="sr-Latn-ME" i="1" dirty="0"/>
            </a:br>
            <a:r>
              <a:rPr lang="sr-Latn-ME" sz="2300" i="1" dirty="0"/>
              <a:t>- </a:t>
            </a:r>
            <a:r>
              <a:rPr lang="en-US" sz="2300" i="1" dirty="0"/>
              <a:t> </a:t>
            </a:r>
            <a:r>
              <a:rPr lang="sr-Latn-ME" sz="2300" b="0" dirty="0"/>
              <a:t>Izvršene transakcije se ne skraćuju dok se ne kreiraju rezervne kopije</a:t>
            </a:r>
            <a:br>
              <a:rPr lang="sr-Latn-ME" sz="2300" dirty="0"/>
            </a:br>
            <a:r>
              <a:rPr lang="sr-Latn-ME" sz="2300" dirty="0"/>
              <a:t>- </a:t>
            </a:r>
            <a:r>
              <a:rPr lang="en-US" sz="2300" dirty="0"/>
              <a:t> </a:t>
            </a:r>
            <a:r>
              <a:rPr lang="sr-Latn-ME" sz="2300" b="0" dirty="0"/>
              <a:t>Omogućeno je kreiranje potpunih, diferencijalnih i rez. kopija logova – moguć je </a:t>
            </a:r>
            <a:r>
              <a:rPr lang="sr-Latn-ME" sz="2300" b="0" i="1" dirty="0"/>
              <a:t>point-in-time  </a:t>
            </a:r>
            <a:r>
              <a:rPr lang="sr-Latn-ME" sz="2300" b="0" dirty="0"/>
              <a:t>oporavak</a:t>
            </a:r>
            <a:endParaRPr sz="2300" b="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FA70CAB-5F37-4168-93E4-03B026D5C656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598405" y="2293978"/>
            <a:ext cx="5947190" cy="2622534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CF44496-BA43-4F52-B115-715B237F2291}"/>
              </a:ext>
            </a:extLst>
          </p:cNvPr>
          <p:cNvSpPr/>
          <p:nvPr/>
        </p:nvSpPr>
        <p:spPr>
          <a:xfrm>
            <a:off x="2652408" y="4853251"/>
            <a:ext cx="304762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r-Latn-ME" dirty="0">
                <a:latin typeface="Voltaire" panose="020B0604020202020204" charset="0"/>
              </a:rPr>
              <a:t>Ilustracija korišćenja Full Recovery Model-a</a:t>
            </a:r>
            <a:endParaRPr lang="sr-Latn-RS" dirty="0">
              <a:latin typeface="Voltaire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7239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615;p44">
            <a:extLst>
              <a:ext uri="{FF2B5EF4-FFF2-40B4-BE49-F238E27FC236}">
                <a16:creationId xmlns:a16="http://schemas.microsoft.com/office/drawing/2014/main" id="{CAA40535-46E0-42CB-B10B-4363B1817E7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12425" y="325683"/>
            <a:ext cx="7717500" cy="58871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sr-Latn-ME" dirty="0"/>
              <a:t>03.01 </a:t>
            </a:r>
            <a:r>
              <a:rPr lang="sr-Latn-ME" i="1" dirty="0"/>
              <a:t>Full Recovery Model – restore sequence</a:t>
            </a:r>
            <a:br>
              <a:rPr lang="sr-Latn-ME" i="1" dirty="0"/>
            </a:br>
            <a:endParaRPr b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02D0553-6204-4C31-9DE6-4CB9D37426C1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2263140" y="1523842"/>
            <a:ext cx="4213860" cy="37461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7B5B65B-517C-48E1-ABE2-614E9A0F1ABC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1079532" y="2507895"/>
            <a:ext cx="6984935" cy="169152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CEA84F5-D644-436D-B2BA-39564DEA154C}"/>
              </a:ext>
            </a:extLst>
          </p:cNvPr>
          <p:cNvSpPr/>
          <p:nvPr/>
        </p:nvSpPr>
        <p:spPr>
          <a:xfrm>
            <a:off x="2582565" y="4199423"/>
            <a:ext cx="419217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r-Latn-ME" dirty="0">
                <a:latin typeface="Voltaire" panose="020B0604020202020204" charset="0"/>
              </a:rPr>
              <a:t>Restore sekvenca za prethodno ilustrovani </a:t>
            </a:r>
            <a:r>
              <a:rPr lang="sr-Latn-ME" dirty="0" err="1">
                <a:latin typeface="Voltaire" panose="020B0604020202020204" charset="0"/>
              </a:rPr>
              <a:t>primer</a:t>
            </a:r>
            <a:r>
              <a:rPr lang="sr-Latn-ME" dirty="0">
                <a:latin typeface="Voltaire" panose="020B0604020202020204" charset="0"/>
              </a:rPr>
              <a:t> korišćenja</a:t>
            </a:r>
            <a:endParaRPr lang="sr-Latn-RS" dirty="0">
              <a:latin typeface="Voltaire" panose="020B060402020202020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D0B95EB-781D-4940-9094-323647C407C3}"/>
              </a:ext>
            </a:extLst>
          </p:cNvPr>
          <p:cNvSpPr/>
          <p:nvPr/>
        </p:nvSpPr>
        <p:spPr>
          <a:xfrm>
            <a:off x="2950450" y="1895396"/>
            <a:ext cx="283923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r-Latn-ME" dirty="0">
                <a:latin typeface="Voltaire" panose="020B0604020202020204" charset="0"/>
              </a:rPr>
              <a:t>Postavljanje potpunog modela oporavka</a:t>
            </a:r>
            <a:endParaRPr lang="sr-Latn-RS" dirty="0">
              <a:latin typeface="Voltaire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42960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615;p44">
            <a:extLst>
              <a:ext uri="{FF2B5EF4-FFF2-40B4-BE49-F238E27FC236}">
                <a16:creationId xmlns:a16="http://schemas.microsoft.com/office/drawing/2014/main" id="{CAA40535-46E0-42CB-B10B-4363B1817E7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12425" y="325683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sr-Latn-ME" dirty="0"/>
              <a:t>03.02 </a:t>
            </a:r>
            <a:r>
              <a:rPr lang="sr-Latn-ME" i="1" dirty="0"/>
              <a:t>Simple Recovery Model</a:t>
            </a:r>
            <a:br>
              <a:rPr lang="sr-Latn-ME" i="1" dirty="0"/>
            </a:br>
            <a:r>
              <a:rPr lang="sr-Latn-ME" i="1" dirty="0"/>
              <a:t>- </a:t>
            </a:r>
            <a:r>
              <a:rPr lang="en-US" i="1" dirty="0"/>
              <a:t> </a:t>
            </a:r>
            <a:r>
              <a:rPr lang="sr-Latn-ME" sz="2400" b="0" dirty="0"/>
              <a:t>Omogućeno je kreiranje potpune i diferencijalne rezervne kopije, ne i kopije loga.</a:t>
            </a:r>
            <a:br>
              <a:rPr lang="sr-Latn-ME" sz="2400" b="0" dirty="0"/>
            </a:br>
            <a:r>
              <a:rPr lang="sr-Latn-ME" sz="2400" b="0" dirty="0"/>
              <a:t>- </a:t>
            </a:r>
            <a:r>
              <a:rPr lang="en-US" sz="2400" b="0" dirty="0"/>
              <a:t> </a:t>
            </a:r>
            <a:r>
              <a:rPr lang="sr-Latn-ME" sz="2400" b="0" dirty="0"/>
              <a:t>Sve potvrđene transakcije se uklanjaju iz loga nakon kreiranja </a:t>
            </a:r>
            <a:r>
              <a:rPr lang="sr-Latn-ME" sz="2400" b="0" i="1" dirty="0"/>
              <a:t>checkpoint-a.</a:t>
            </a:r>
            <a:endParaRPr b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E32D48A-73A6-468B-9743-277BD86D24D9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794920" y="2366154"/>
            <a:ext cx="5554160" cy="2451663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6A93F47-7F76-48C1-B95B-773A47B66253}"/>
              </a:ext>
            </a:extLst>
          </p:cNvPr>
          <p:cNvSpPr/>
          <p:nvPr/>
        </p:nvSpPr>
        <p:spPr>
          <a:xfrm>
            <a:off x="2840760" y="4817817"/>
            <a:ext cx="326082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r-Latn-ME" dirty="0">
                <a:latin typeface="Voltaire" panose="020B0604020202020204" charset="0"/>
              </a:rPr>
              <a:t>Ilustracija korišćenja Simple Recovery Model-a</a:t>
            </a:r>
            <a:endParaRPr lang="sr-Latn-RS" dirty="0">
              <a:latin typeface="Voltaire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79511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615;p44">
            <a:extLst>
              <a:ext uri="{FF2B5EF4-FFF2-40B4-BE49-F238E27FC236}">
                <a16:creationId xmlns:a16="http://schemas.microsoft.com/office/drawing/2014/main" id="{CAA40535-46E0-42CB-B10B-4363B1817E7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12425" y="325683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sr-Latn-ME" dirty="0"/>
              <a:t>03.02 </a:t>
            </a:r>
            <a:r>
              <a:rPr lang="sr-Latn-ME" i="1" dirty="0"/>
              <a:t>Simple Recovery Model – restore sequence</a:t>
            </a:r>
            <a:endParaRPr b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0E9048-9881-4159-9E23-4DCBA5DB7854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268974" y="2865122"/>
            <a:ext cx="6917606" cy="107845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DEA8E09-C4A6-4AB4-B336-67277527AFF5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2323442" y="1829332"/>
            <a:ext cx="4549797" cy="44904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2178427-5990-4FDB-9242-E321255522A6}"/>
              </a:ext>
            </a:extLst>
          </p:cNvPr>
          <p:cNvSpPr/>
          <p:nvPr/>
        </p:nvSpPr>
        <p:spPr>
          <a:xfrm>
            <a:off x="2631691" y="4022649"/>
            <a:ext cx="419217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r-Latn-ME" dirty="0">
                <a:latin typeface="Voltaire" panose="020B0604020202020204" charset="0"/>
              </a:rPr>
              <a:t>Restore sekvenca za prethodno ilustrovani </a:t>
            </a:r>
            <a:r>
              <a:rPr lang="sr-Latn-ME" dirty="0" err="1">
                <a:latin typeface="Voltaire" panose="020B0604020202020204" charset="0"/>
              </a:rPr>
              <a:t>primer</a:t>
            </a:r>
            <a:r>
              <a:rPr lang="sr-Latn-ME" dirty="0">
                <a:latin typeface="Voltaire" panose="020B0604020202020204" charset="0"/>
              </a:rPr>
              <a:t> korišćenja</a:t>
            </a:r>
            <a:endParaRPr lang="sr-Latn-RS" dirty="0">
              <a:latin typeface="Voltaire" panose="020B060402020202020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5807AA3-26D1-40A6-9442-607208B44F4B}"/>
              </a:ext>
            </a:extLst>
          </p:cNvPr>
          <p:cNvSpPr/>
          <p:nvPr/>
        </p:nvSpPr>
        <p:spPr>
          <a:xfrm>
            <a:off x="3051555" y="2263973"/>
            <a:ext cx="310052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r-Latn-ME" dirty="0">
                <a:latin typeface="Voltaire" panose="020B0604020202020204" charset="0"/>
              </a:rPr>
              <a:t>Postavljanje jednostavnog modela oporavka</a:t>
            </a:r>
            <a:endParaRPr lang="sr-Latn-RS" dirty="0">
              <a:latin typeface="Voltaire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08067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615;p44">
            <a:extLst>
              <a:ext uri="{FF2B5EF4-FFF2-40B4-BE49-F238E27FC236}">
                <a16:creationId xmlns:a16="http://schemas.microsoft.com/office/drawing/2014/main" id="{CAA40535-46E0-42CB-B10B-4363B1817E7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12425" y="325682"/>
            <a:ext cx="7717500" cy="171146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sr-Latn-ME" dirty="0"/>
              <a:t>03.03 </a:t>
            </a:r>
            <a:r>
              <a:rPr lang="sr-Latn-ME" i="1" dirty="0"/>
              <a:t>Bulk-logged Recovery Model</a:t>
            </a:r>
            <a:br>
              <a:rPr lang="sr-Latn-ME" i="1" dirty="0"/>
            </a:br>
            <a:r>
              <a:rPr lang="sr-Latn-ME" i="1" dirty="0"/>
              <a:t>- </a:t>
            </a:r>
            <a:r>
              <a:rPr lang="en-US" i="1" dirty="0"/>
              <a:t> </a:t>
            </a:r>
            <a:r>
              <a:rPr lang="sr-Latn-ME" sz="2400" b="0" dirty="0"/>
              <a:t>Neke operacije se </a:t>
            </a:r>
            <a:r>
              <a:rPr lang="sr-Latn-ME" sz="2400" b="0" dirty="0" err="1"/>
              <a:t>loguju</a:t>
            </a:r>
            <a:r>
              <a:rPr lang="sr-Latn-ME" sz="2400" b="0" dirty="0"/>
              <a:t> minimalno, zbog poboljšanja performansi</a:t>
            </a:r>
            <a:br>
              <a:rPr lang="sr-Latn-ME" sz="2400" b="0" dirty="0"/>
            </a:br>
            <a:r>
              <a:rPr lang="sr-Latn-ME" sz="2400" b="0" dirty="0"/>
              <a:t>-</a:t>
            </a:r>
            <a:r>
              <a:rPr lang="en-US" sz="2400" b="0" dirty="0"/>
              <a:t> </a:t>
            </a:r>
            <a:r>
              <a:rPr lang="sr-Latn-ME" sz="2400" b="0" dirty="0"/>
              <a:t> Identičan modelu potpunog oporavka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30E7D23-EF46-4FDF-8D72-9DF227C5F1BD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597209" y="2128624"/>
            <a:ext cx="6192553" cy="2689194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BDB8CA5-A0FF-4080-A03A-FE4272831E1C}"/>
              </a:ext>
            </a:extLst>
          </p:cNvPr>
          <p:cNvSpPr/>
          <p:nvPr/>
        </p:nvSpPr>
        <p:spPr>
          <a:xfrm>
            <a:off x="2546102" y="4835723"/>
            <a:ext cx="360707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r-Latn-ME" dirty="0">
                <a:latin typeface="Voltaire" panose="020B0604020202020204" charset="0"/>
              </a:rPr>
              <a:t>Ilustracija korišćenja Bulk-logged Recovery Model-a</a:t>
            </a:r>
            <a:endParaRPr lang="sr-Latn-RS" dirty="0">
              <a:latin typeface="Voltaire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96762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615;p44">
            <a:extLst>
              <a:ext uri="{FF2B5EF4-FFF2-40B4-BE49-F238E27FC236}">
                <a16:creationId xmlns:a16="http://schemas.microsoft.com/office/drawing/2014/main" id="{CAA40535-46E0-42CB-B10B-4363B1817E7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12425" y="325683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sr-Latn-ME" dirty="0"/>
              <a:t>03.03 </a:t>
            </a:r>
            <a:r>
              <a:rPr lang="sr-Latn-ME" i="1" dirty="0"/>
              <a:t>Bulk-logged Recovery Model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28F4F94-D95F-4A87-8CB1-F131283DD68A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088474" y="1123950"/>
            <a:ext cx="6765402" cy="161267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4B0CBE5-5974-4BF4-9FAD-16444F7B70F0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1083177" y="3419474"/>
            <a:ext cx="7036954" cy="107957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CBCAF35-8521-480F-87DA-1EC9A3971B64}"/>
              </a:ext>
            </a:extLst>
          </p:cNvPr>
          <p:cNvSpPr/>
          <p:nvPr/>
        </p:nvSpPr>
        <p:spPr>
          <a:xfrm>
            <a:off x="2737367" y="4521409"/>
            <a:ext cx="346761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r-Latn-ME" dirty="0">
                <a:latin typeface="Voltaire" panose="020B0604020202020204" charset="0"/>
              </a:rPr>
              <a:t>Restore sekvenca za ilustrovani </a:t>
            </a:r>
            <a:r>
              <a:rPr lang="sr-Latn-ME" dirty="0" err="1">
                <a:latin typeface="Voltaire" panose="020B0604020202020204" charset="0"/>
              </a:rPr>
              <a:t>primer</a:t>
            </a:r>
            <a:r>
              <a:rPr lang="sr-Latn-ME" dirty="0">
                <a:latin typeface="Voltaire" panose="020B0604020202020204" charset="0"/>
              </a:rPr>
              <a:t> korišćenja</a:t>
            </a:r>
            <a:endParaRPr lang="sr-Latn-RS" dirty="0">
              <a:latin typeface="Voltaire" panose="020B060402020202020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DA028E1-4FAE-40E1-B6F4-0CE0B93A4C37}"/>
              </a:ext>
            </a:extLst>
          </p:cNvPr>
          <p:cNvSpPr/>
          <p:nvPr/>
        </p:nvSpPr>
        <p:spPr>
          <a:xfrm>
            <a:off x="1688036" y="2808304"/>
            <a:ext cx="582723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r-Latn-ME" dirty="0">
                <a:latin typeface="Voltaire" panose="020B0604020202020204" charset="0"/>
              </a:rPr>
              <a:t>Greška koja se javlja ukoliko se pokuša sa vraćanjem baze na neki trenutak nakon 14h</a:t>
            </a:r>
            <a:endParaRPr lang="sr-Latn-RS" dirty="0">
              <a:latin typeface="Voltaire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85576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615;p44">
            <a:extLst>
              <a:ext uri="{FF2B5EF4-FFF2-40B4-BE49-F238E27FC236}">
                <a16:creationId xmlns:a16="http://schemas.microsoft.com/office/drawing/2014/main" id="{CAA40535-46E0-42CB-B10B-4363B1817E7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12425" y="325683"/>
            <a:ext cx="7717500" cy="149154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sr-Latn-ME" dirty="0"/>
              <a:t>03.04 </a:t>
            </a:r>
            <a:r>
              <a:rPr lang="sr-Latn-ME" i="1" dirty="0"/>
              <a:t>Restore  </a:t>
            </a:r>
            <a:r>
              <a:rPr lang="sr-Latn-ME" dirty="0"/>
              <a:t>sekvenca – </a:t>
            </a:r>
            <a:r>
              <a:rPr lang="sr-Latn-ME" dirty="0" err="1"/>
              <a:t>primer</a:t>
            </a:r>
            <a:br>
              <a:rPr lang="sr-Latn-ME" dirty="0"/>
            </a:br>
            <a:r>
              <a:rPr lang="en-US" dirty="0"/>
              <a:t>-  </a:t>
            </a:r>
            <a:r>
              <a:rPr lang="sr-Latn-ME" sz="2400" b="0" dirty="0"/>
              <a:t>Potpune rezervne kopije se kreiraju jednom </a:t>
            </a:r>
            <a:r>
              <a:rPr lang="sr-Latn-ME" sz="2400" b="0" dirty="0" err="1"/>
              <a:t>nedeljno</a:t>
            </a:r>
            <a:r>
              <a:rPr lang="sr-Latn-ME" sz="2400" b="0" dirty="0"/>
              <a:t>, diferencijalne na šest sati, a rezervne kopije loga na jedan sat</a:t>
            </a:r>
            <a:endParaRPr b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67241F-66AE-4832-AFDC-81655CF4AD8B}"/>
              </a:ext>
            </a:extLst>
          </p:cNvPr>
          <p:cNvPicPr/>
          <p:nvPr/>
        </p:nvPicPr>
        <p:blipFill rotWithShape="1">
          <a:blip r:embed="rId3"/>
          <a:srcRect l="2385" t="1" r="5135" b="6032"/>
          <a:stretch/>
        </p:blipFill>
        <p:spPr bwMode="auto">
          <a:xfrm>
            <a:off x="1724110" y="2299070"/>
            <a:ext cx="5695780" cy="1629860"/>
          </a:xfrm>
          <a:prstGeom prst="rect">
            <a:avLst/>
          </a:prstGeom>
          <a:ln w="9525" cap="flat" cmpd="sng" algn="ctr">
            <a:solidFill>
              <a:srgbClr val="5B9BD5"/>
            </a:solidFill>
            <a:prstDash val="solid"/>
            <a:round/>
            <a:headEnd type="none" w="med" len="med"/>
            <a:tailEnd type="none" w="med" len="med"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6" name="Google Shape;520;p43">
            <a:extLst>
              <a:ext uri="{FF2B5EF4-FFF2-40B4-BE49-F238E27FC236}">
                <a16:creationId xmlns:a16="http://schemas.microsoft.com/office/drawing/2014/main" id="{44419AB4-2DE9-4B14-BCE0-A70A5177CF5C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020457" y="3867970"/>
            <a:ext cx="5301206" cy="74958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sr-Latn-ME" sz="2200" dirty="0">
                <a:solidFill>
                  <a:schemeClr val="tx1"/>
                </a:solidFill>
                <a:latin typeface="Voltaire" panose="020B0604020202020204" charset="0"/>
              </a:rPr>
              <a:t>Kreiranje potpune rezervne kopije baze - </a:t>
            </a:r>
            <a:r>
              <a:rPr lang="sr-Latn-ME" sz="2200" dirty="0" err="1">
                <a:solidFill>
                  <a:schemeClr val="tx1"/>
                </a:solidFill>
                <a:latin typeface="Voltaire" panose="020B0604020202020204" charset="0"/>
              </a:rPr>
              <a:t>nedelja</a:t>
            </a:r>
            <a:endParaRPr lang="sr-Latn-ME" sz="2200" b="1" dirty="0">
              <a:solidFill>
                <a:schemeClr val="tx1"/>
              </a:solidFill>
              <a:latin typeface="Voltaire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19105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520;p43">
            <a:extLst>
              <a:ext uri="{FF2B5EF4-FFF2-40B4-BE49-F238E27FC236}">
                <a16:creationId xmlns:a16="http://schemas.microsoft.com/office/drawing/2014/main" id="{44419AB4-2DE9-4B14-BCE0-A70A5177CF5C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5984111" y="1562583"/>
            <a:ext cx="2627454" cy="232651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sr-Latn-ME" sz="2200" dirty="0">
                <a:solidFill>
                  <a:schemeClr val="tx1"/>
                </a:solidFill>
                <a:latin typeface="Voltaire" panose="020B0604020202020204" charset="0"/>
              </a:rPr>
              <a:t>Kreiranje diferencijalnih kopija na 6 sati i kopija loga na 1 sat - </a:t>
            </a:r>
            <a:r>
              <a:rPr lang="sr-Latn-ME" sz="2200" dirty="0" err="1">
                <a:solidFill>
                  <a:schemeClr val="tx1"/>
                </a:solidFill>
                <a:latin typeface="Voltaire" panose="020B0604020202020204" charset="0"/>
              </a:rPr>
              <a:t>ponedeljak</a:t>
            </a:r>
            <a:endParaRPr lang="sr-Latn-ME" sz="2200" b="1" dirty="0">
              <a:solidFill>
                <a:schemeClr val="tx1"/>
              </a:solidFill>
              <a:latin typeface="Voltaire" panose="020B060402020202020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CEF7A13-375E-4A9E-B7D0-D4C44D11299C}"/>
              </a:ext>
            </a:extLst>
          </p:cNvPr>
          <p:cNvPicPr/>
          <p:nvPr/>
        </p:nvPicPr>
        <p:blipFill rotWithShape="1">
          <a:blip r:embed="rId3"/>
          <a:srcRect l="1207" b="519"/>
          <a:stretch/>
        </p:blipFill>
        <p:spPr bwMode="auto">
          <a:xfrm>
            <a:off x="0" y="0"/>
            <a:ext cx="5405377" cy="5143500"/>
          </a:xfrm>
          <a:prstGeom prst="rect">
            <a:avLst/>
          </a:prstGeom>
          <a:ln>
            <a:solidFill>
              <a:schemeClr val="accent1"/>
            </a:solidFill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41211966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520;p43">
            <a:extLst>
              <a:ext uri="{FF2B5EF4-FFF2-40B4-BE49-F238E27FC236}">
                <a16:creationId xmlns:a16="http://schemas.microsoft.com/office/drawing/2014/main" id="{44419AB4-2DE9-4B14-BCE0-A70A5177CF5C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007260" y="1562583"/>
            <a:ext cx="2627454" cy="232651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sr-Latn-ME" sz="2200" dirty="0">
                <a:solidFill>
                  <a:schemeClr val="tx1"/>
                </a:solidFill>
                <a:latin typeface="Voltaire" panose="020B0604020202020204" charset="0"/>
              </a:rPr>
              <a:t>Kreiranje diferencijalnih kopija na 6 sati i kopija loga na 1 sat - utorak</a:t>
            </a:r>
            <a:endParaRPr lang="sr-Latn-ME" sz="2200" b="1" dirty="0">
              <a:solidFill>
                <a:schemeClr val="tx1"/>
              </a:solidFill>
              <a:latin typeface="Voltaire" panose="020B060402020202020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3563E73-FF25-4B47-B146-45DBA487AC2C}"/>
              </a:ext>
            </a:extLst>
          </p:cNvPr>
          <p:cNvPicPr/>
          <p:nvPr/>
        </p:nvPicPr>
        <p:blipFill rotWithShape="1">
          <a:blip r:embed="rId3"/>
          <a:srcRect l="1776"/>
          <a:stretch/>
        </p:blipFill>
        <p:spPr bwMode="auto">
          <a:xfrm>
            <a:off x="0" y="0"/>
            <a:ext cx="4942390" cy="5143500"/>
          </a:xfrm>
          <a:prstGeom prst="rect">
            <a:avLst/>
          </a:prstGeom>
          <a:ln>
            <a:solidFill>
              <a:schemeClr val="accent1"/>
            </a:solidFill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66072526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520;p43">
            <a:extLst>
              <a:ext uri="{FF2B5EF4-FFF2-40B4-BE49-F238E27FC236}">
                <a16:creationId xmlns:a16="http://schemas.microsoft.com/office/drawing/2014/main" id="{44419AB4-2DE9-4B14-BCE0-A70A5177CF5C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5344320" y="1799393"/>
            <a:ext cx="3472020" cy="218479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sr-Latn-ME" sz="2200" dirty="0">
                <a:solidFill>
                  <a:schemeClr val="tx1"/>
                </a:solidFill>
                <a:latin typeface="Voltaire" panose="020B0604020202020204" charset="0"/>
              </a:rPr>
              <a:t>Prikaz svih rezervnih kopija</a:t>
            </a:r>
          </a:p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sr-Latn-ME" sz="2200" dirty="0">
                <a:solidFill>
                  <a:schemeClr val="tx1"/>
                </a:solidFill>
                <a:latin typeface="Voltaire" panose="020B0604020202020204" charset="0"/>
              </a:rPr>
              <a:t>Uokvirene kopije su od značaja za </a:t>
            </a:r>
            <a:r>
              <a:rPr lang="sr-Latn-ME" sz="2200" i="1" dirty="0">
                <a:solidFill>
                  <a:schemeClr val="tx1"/>
                </a:solidFill>
                <a:latin typeface="Voltaire" panose="020B0604020202020204" charset="0"/>
              </a:rPr>
              <a:t>Restore</a:t>
            </a:r>
            <a:endParaRPr lang="sr-Latn-ME" sz="2200" dirty="0">
              <a:solidFill>
                <a:schemeClr val="tx1"/>
              </a:solidFill>
              <a:latin typeface="Voltaire" panose="020B060402020202020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899ECF-5C58-4028-8681-C9CD7220EF30}"/>
              </a:ext>
            </a:extLst>
          </p:cNvPr>
          <p:cNvPicPr/>
          <p:nvPr/>
        </p:nvPicPr>
        <p:blipFill rotWithShape="1">
          <a:blip r:embed="rId3"/>
          <a:srcRect l="1" t="903" r="2816" b="877"/>
          <a:stretch/>
        </p:blipFill>
        <p:spPr bwMode="auto">
          <a:xfrm>
            <a:off x="-1" y="-47625"/>
            <a:ext cx="5058137" cy="5191125"/>
          </a:xfrm>
          <a:prstGeom prst="rect">
            <a:avLst/>
          </a:prstGeom>
          <a:ln>
            <a:solidFill>
              <a:schemeClr val="accent1"/>
            </a:solidFill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C1D7E91-2C57-4747-963A-FC71FE598767}"/>
              </a:ext>
            </a:extLst>
          </p:cNvPr>
          <p:cNvSpPr/>
          <p:nvPr/>
        </p:nvSpPr>
        <p:spPr>
          <a:xfrm>
            <a:off x="274320" y="228600"/>
            <a:ext cx="4869180" cy="220980"/>
          </a:xfrm>
          <a:prstGeom prst="rect">
            <a:avLst/>
          </a:prstGeom>
          <a:noFill/>
          <a:ln w="190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r-Latn-R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7BFA468-7835-4B3D-B0A9-D7D040A59609}"/>
              </a:ext>
            </a:extLst>
          </p:cNvPr>
          <p:cNvSpPr/>
          <p:nvPr/>
        </p:nvSpPr>
        <p:spPr>
          <a:xfrm>
            <a:off x="274320" y="4511040"/>
            <a:ext cx="4869180" cy="632460"/>
          </a:xfrm>
          <a:prstGeom prst="rect">
            <a:avLst/>
          </a:prstGeom>
          <a:noFill/>
          <a:ln w="190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259681085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520;p43">
            <a:extLst>
              <a:ext uri="{FF2B5EF4-FFF2-40B4-BE49-F238E27FC236}">
                <a16:creationId xmlns:a16="http://schemas.microsoft.com/office/drawing/2014/main" id="{44419AB4-2DE9-4B14-BCE0-A70A5177CF5C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298824" y="4329233"/>
            <a:ext cx="3472020" cy="75330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sr-Latn-ME" sz="2200" dirty="0">
                <a:solidFill>
                  <a:schemeClr val="tx1"/>
                </a:solidFill>
                <a:latin typeface="Voltaire" panose="020B0604020202020204" charset="0"/>
              </a:rPr>
              <a:t>Restore sekvenca 1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E534A5-42E7-4B86-A7AD-D23D2EA32E6B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2338704" y="183515"/>
            <a:ext cx="4123055" cy="4206678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88005766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F397368-3FC1-4E3B-BE77-B756C41493F0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620530" cy="5143500"/>
          </a:xfrm>
          <a:prstGeom prst="rect">
            <a:avLst/>
          </a:prstGeom>
          <a:ln>
            <a:solidFill>
              <a:srgbClr val="0070C0"/>
            </a:solidFill>
          </a:ln>
        </p:spPr>
      </p:pic>
      <p:sp>
        <p:nvSpPr>
          <p:cNvPr id="9" name="Google Shape;520;p43">
            <a:extLst>
              <a:ext uri="{FF2B5EF4-FFF2-40B4-BE49-F238E27FC236}">
                <a16:creationId xmlns:a16="http://schemas.microsoft.com/office/drawing/2014/main" id="{D47AB56F-8C87-43C2-83C5-C60AADCDEB9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389325" y="1999484"/>
            <a:ext cx="4139514" cy="114453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sr-Latn-ME" sz="2000" dirty="0">
                <a:solidFill>
                  <a:schemeClr val="tx1"/>
                </a:solidFill>
                <a:latin typeface="Voltaire" panose="020B0604020202020204" charset="0"/>
              </a:rPr>
              <a:t>Restore sekvenca 2,  u slučaju da je četvrta diferencijalna kopija loša</a:t>
            </a:r>
          </a:p>
        </p:txBody>
      </p:sp>
    </p:spTree>
    <p:extLst>
      <p:ext uri="{BB962C8B-B14F-4D97-AF65-F5344CB8AC3E}">
        <p14:creationId xmlns:p14="http://schemas.microsoft.com/office/powerpoint/2010/main" val="8145578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615;p44">
            <a:extLst>
              <a:ext uri="{FF2B5EF4-FFF2-40B4-BE49-F238E27FC236}">
                <a16:creationId xmlns:a16="http://schemas.microsoft.com/office/drawing/2014/main" id="{CAA40535-46E0-42CB-B10B-4363B1817E7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12425" y="325683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sr-Latn-ME" dirty="0"/>
              <a:t>04 Zaključak</a:t>
            </a:r>
            <a:endParaRPr dirty="0"/>
          </a:p>
        </p:txBody>
      </p:sp>
      <p:sp>
        <p:nvSpPr>
          <p:cNvPr id="3" name="Google Shape;520;p43">
            <a:extLst>
              <a:ext uri="{FF2B5EF4-FFF2-40B4-BE49-F238E27FC236}">
                <a16:creationId xmlns:a16="http://schemas.microsoft.com/office/drawing/2014/main" id="{13B183EE-4B84-4023-B47C-58086DE688A3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09558" y="985212"/>
            <a:ext cx="8724883" cy="383260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sr-Latn-ME" sz="2400" dirty="0">
                <a:solidFill>
                  <a:schemeClr val="tx1"/>
                </a:solidFill>
                <a:latin typeface="Voltaire" panose="020B0604020202020204" charset="0"/>
              </a:rPr>
              <a:t>Svaka strategija za kreiranje rezervnih kopija i vraćanje podataka za </a:t>
            </a:r>
            <a:r>
              <a:rPr lang="sr-Latn-ME" sz="2400" dirty="0">
                <a:solidFill>
                  <a:schemeClr val="accent5">
                    <a:lumMod val="75000"/>
                  </a:schemeClr>
                </a:solidFill>
                <a:latin typeface="Voltaire" panose="020B0604020202020204" charset="0"/>
              </a:rPr>
              <a:t>drugačija</a:t>
            </a:r>
            <a:r>
              <a:rPr lang="sr-Latn-ME" sz="2400" dirty="0">
                <a:solidFill>
                  <a:srgbClr val="FF0000"/>
                </a:solidFill>
                <a:latin typeface="Voltaire" panose="020B0604020202020204" charset="0"/>
              </a:rPr>
              <a:t>.</a:t>
            </a:r>
          </a:p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sr-Latn-ME" sz="2400" dirty="0">
                <a:solidFill>
                  <a:schemeClr val="tx1"/>
                </a:solidFill>
                <a:latin typeface="Voltaire" panose="020B0604020202020204" charset="0"/>
              </a:rPr>
              <a:t>Veoma važno je </a:t>
            </a:r>
            <a:r>
              <a:rPr lang="sr-Latn-ME" sz="2400" dirty="0">
                <a:solidFill>
                  <a:schemeClr val="accent5">
                    <a:lumMod val="75000"/>
                  </a:schemeClr>
                </a:solidFill>
                <a:latin typeface="Voltaire" panose="020B0604020202020204" charset="0"/>
              </a:rPr>
              <a:t>redovno testiranje strategije.</a:t>
            </a:r>
          </a:p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sr-Latn-ME" sz="2400" dirty="0">
                <a:solidFill>
                  <a:schemeClr val="tx1"/>
                </a:solidFill>
                <a:latin typeface="Voltaire" panose="020B0604020202020204" charset="0"/>
              </a:rPr>
              <a:t>Potrebno je praviti različite pretpostavke i u odnosu na njih </a:t>
            </a:r>
            <a:r>
              <a:rPr lang="sr-Latn-ME" sz="2400" dirty="0" err="1">
                <a:solidFill>
                  <a:schemeClr val="tx1"/>
                </a:solidFill>
                <a:latin typeface="Voltaire" panose="020B0604020202020204" charset="0"/>
              </a:rPr>
              <a:t>proveravati</a:t>
            </a:r>
            <a:r>
              <a:rPr lang="sr-Latn-ME" sz="2400" dirty="0">
                <a:solidFill>
                  <a:schemeClr val="tx1"/>
                </a:solidFill>
                <a:latin typeface="Voltaire" panose="020B0604020202020204" charset="0"/>
              </a:rPr>
              <a:t> da li je strategija dobra.</a:t>
            </a:r>
          </a:p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sr-Latn-ME" sz="2400" dirty="0">
                <a:solidFill>
                  <a:schemeClr val="tx1"/>
                </a:solidFill>
                <a:latin typeface="Voltaire" panose="020B0604020202020204" charset="0"/>
              </a:rPr>
              <a:t>Dobra strategija </a:t>
            </a:r>
            <a:r>
              <a:rPr lang="sr-Latn-ME" sz="2400" dirty="0" err="1">
                <a:solidFill>
                  <a:schemeClr val="accent5">
                    <a:lumMod val="75000"/>
                  </a:schemeClr>
                </a:solidFill>
                <a:latin typeface="Voltaire" panose="020B0604020202020204" charset="0"/>
              </a:rPr>
              <a:t>štedi</a:t>
            </a:r>
            <a:r>
              <a:rPr lang="sr-Latn-ME" sz="2400" dirty="0">
                <a:solidFill>
                  <a:schemeClr val="accent5">
                    <a:lumMod val="75000"/>
                  </a:schemeClr>
                </a:solidFill>
                <a:latin typeface="Voltaire" panose="020B0604020202020204" charset="0"/>
              </a:rPr>
              <a:t> </a:t>
            </a:r>
            <a:r>
              <a:rPr lang="sr-Latn-ME" sz="2400" dirty="0" err="1">
                <a:solidFill>
                  <a:schemeClr val="accent5">
                    <a:lumMod val="75000"/>
                  </a:schemeClr>
                </a:solidFill>
                <a:latin typeface="Voltaire" panose="020B0604020202020204" charset="0"/>
              </a:rPr>
              <a:t>vreme</a:t>
            </a:r>
            <a:r>
              <a:rPr lang="sr-Latn-ME" sz="2400" dirty="0">
                <a:solidFill>
                  <a:schemeClr val="accent5">
                    <a:lumMod val="75000"/>
                  </a:schemeClr>
                </a:solidFill>
                <a:latin typeface="Voltaire" panose="020B0604020202020204" charset="0"/>
              </a:rPr>
              <a:t> i povećava dostupnost podataka </a:t>
            </a:r>
            <a:r>
              <a:rPr lang="sr-Latn-ME" sz="2400" dirty="0">
                <a:solidFill>
                  <a:schemeClr val="tx1"/>
                </a:solidFill>
                <a:latin typeface="Voltaire" panose="020B0604020202020204" charset="0"/>
              </a:rPr>
              <a:t>prilikom kvara.</a:t>
            </a:r>
          </a:p>
        </p:txBody>
      </p:sp>
    </p:spTree>
    <p:extLst>
      <p:ext uri="{BB962C8B-B14F-4D97-AF65-F5344CB8AC3E}">
        <p14:creationId xmlns:p14="http://schemas.microsoft.com/office/powerpoint/2010/main" val="223240319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7" name="Google Shape;1447;p73"/>
          <p:cNvSpPr txBox="1">
            <a:spLocks noGrp="1"/>
          </p:cNvSpPr>
          <p:nvPr>
            <p:ph type="title"/>
          </p:nvPr>
        </p:nvSpPr>
        <p:spPr>
          <a:xfrm>
            <a:off x="2061300" y="557057"/>
            <a:ext cx="5140350" cy="95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sz="6000" dirty="0"/>
              <a:t>Hvala na pažnji!</a:t>
            </a:r>
            <a:endParaRPr sz="6000" dirty="0"/>
          </a:p>
        </p:txBody>
      </p:sp>
      <p:sp>
        <p:nvSpPr>
          <p:cNvPr id="1448" name="Google Shape;1448;p73"/>
          <p:cNvSpPr txBox="1">
            <a:spLocks noGrp="1"/>
          </p:cNvSpPr>
          <p:nvPr>
            <p:ph type="subTitle" idx="1"/>
          </p:nvPr>
        </p:nvSpPr>
        <p:spPr>
          <a:xfrm>
            <a:off x="2837250" y="1727700"/>
            <a:ext cx="3469500" cy="119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dirty="0">
                <a:solidFill>
                  <a:schemeClr val="tx1"/>
                </a:solidFill>
              </a:rPr>
              <a:t>Pitanja</a:t>
            </a:r>
            <a:r>
              <a:rPr lang="en-US" dirty="0">
                <a:solidFill>
                  <a:schemeClr val="tx1"/>
                </a:solidFill>
              </a:rPr>
              <a:t>:</a:t>
            </a:r>
            <a:br>
              <a:rPr lang="sr-Latn-RS" dirty="0">
                <a:solidFill>
                  <a:schemeClr val="tx1"/>
                </a:solidFill>
              </a:rPr>
            </a:br>
            <a:r>
              <a:rPr lang="en-US" dirty="0" err="1">
                <a:solidFill>
                  <a:schemeClr val="tx1"/>
                </a:solidFill>
                <a:hlinkClick r:id="rId3"/>
              </a:rPr>
              <a:t>sofija</a:t>
            </a:r>
            <a:r>
              <a:rPr lang="en-US" dirty="0">
                <a:solidFill>
                  <a:schemeClr val="tx1"/>
                </a:solidFill>
                <a:hlinkClick r:id="rId3"/>
              </a:rPr>
              <a:t>.</a:t>
            </a:r>
            <a:r>
              <a:rPr lang="sr-Latn-ME" dirty="0">
                <a:solidFill>
                  <a:schemeClr val="tx1"/>
                </a:solidFill>
                <a:hlinkClick r:id="rId3"/>
              </a:rPr>
              <a:t>p</a:t>
            </a:r>
            <a:r>
              <a:rPr lang="en-US" dirty="0">
                <a:solidFill>
                  <a:schemeClr val="tx1"/>
                </a:solidFill>
                <a:hlinkClick r:id="rId3"/>
              </a:rPr>
              <a:t>etrovic@elfak.rs</a:t>
            </a:r>
            <a:r>
              <a:rPr lang="sr-Latn-ME" dirty="0">
                <a:solidFill>
                  <a:schemeClr val="tx1"/>
                </a:solidFill>
              </a:rPr>
              <a:t> </a:t>
            </a:r>
            <a:endParaRPr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2744389"/>
      </p:ext>
    </p:extLst>
  </p:cSld>
  <p:clrMapOvr>
    <a:masterClrMapping/>
  </p:clrMapOvr>
</p:sld>
</file>

<file path=ppt/theme/theme1.xml><?xml version="1.0" encoding="utf-8"?>
<a:theme xmlns:a="http://schemas.openxmlformats.org/drawingml/2006/main" name="Women in Science by Slidesgo">
  <a:themeElements>
    <a:clrScheme name="Simple Light">
      <a:dk1>
        <a:srgbClr val="543348"/>
      </a:dk1>
      <a:lt1>
        <a:srgbClr val="EFF4F4"/>
      </a:lt1>
      <a:dk2>
        <a:srgbClr val="D2E6E4"/>
      </a:dk2>
      <a:lt2>
        <a:srgbClr val="6E6E80"/>
      </a:lt2>
      <a:accent1>
        <a:srgbClr val="F7DB56"/>
      </a:accent1>
      <a:accent2>
        <a:srgbClr val="794F5B"/>
      </a:accent2>
      <a:accent3>
        <a:srgbClr val="EC6255"/>
      </a:accent3>
      <a:accent4>
        <a:srgbClr val="B9595B"/>
      </a:accent4>
      <a:accent5>
        <a:srgbClr val="EEA294"/>
      </a:accent5>
      <a:accent6>
        <a:srgbClr val="EFF4F4"/>
      </a:accent6>
      <a:hlink>
        <a:srgbClr val="30202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1225</Words>
  <Application>Microsoft Office PowerPoint</Application>
  <PresentationFormat>On-screen Show (16:9)</PresentationFormat>
  <Paragraphs>133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7" baseType="lpstr">
      <vt:lpstr>Arial</vt:lpstr>
      <vt:lpstr>Voltaire</vt:lpstr>
      <vt:lpstr>Tajawal</vt:lpstr>
      <vt:lpstr>Women in Science by Slidesgo</vt:lpstr>
      <vt:lpstr>PowerPoint Presentation</vt:lpstr>
      <vt:lpstr>PowerPoint Presentation</vt:lpstr>
      <vt:lpstr>01.01 Uvod</vt:lpstr>
      <vt:lpstr>01.02 Strategija za backup i restore</vt:lpstr>
      <vt:lpstr>02.01 Full Backup  -  Rezervna kopija koja sadrži sve podatke iz određene baze, grupe fajlova ili fajlova, ali i deo transakcionog loga</vt:lpstr>
      <vt:lpstr>02.01 Full Backup  </vt:lpstr>
      <vt:lpstr>02.01 Full Backup  </vt:lpstr>
      <vt:lpstr>02.01 Full Backup  </vt:lpstr>
      <vt:lpstr>02.02 Full File Backup  -  Fajlovi mogu da se u posebnim rezervnim kopijama i da se vraćaju individualnočuvaju -  Cela grupa fajlova je offline dok se neki fajl iz grupe vraća -  Mogu se kombinovati sa parcijalnim kopijama i mogu biti osnova za diferencijalne kopije  </vt:lpstr>
      <vt:lpstr>02.03 Differential Backup -  Sadrži samo podatke koji su se promenili od poslednje potpune rezervne kopije  </vt:lpstr>
      <vt:lpstr>02.03 Differential Backup  </vt:lpstr>
      <vt:lpstr>02.04 Transaction Log Backup -  Backup podataka mora da sadrži neki deo transakcionog loga, da bi baza podataka nakon oporavka bila transakciono-konzistentna  </vt:lpstr>
      <vt:lpstr>02.04 Partial Backup -  Ne sadrže read-only grupe fajlova  </vt:lpstr>
      <vt:lpstr>02.04 Tail-log Backup -  Kopira sve logove generisane od poslednjeg zakazanog backup-a loga  </vt:lpstr>
      <vt:lpstr>02.04 Tail-log Backup  </vt:lpstr>
      <vt:lpstr>02.04 Tail-log Backup  </vt:lpstr>
      <vt:lpstr>02.04 Copy-only  opcija -  Kreiranje potpune rezervne kopije ne utiče na buduće diferencijalne kopije -  Kreiranje rezervne kopije loga ne utiče na Log Backup Chain  </vt:lpstr>
      <vt:lpstr>02.04 Copy-only  opcija  </vt:lpstr>
      <vt:lpstr>03 Restore &amp; Recover – baza ostaje logički konzistentna</vt:lpstr>
      <vt:lpstr>03.01 Full Recovery Model -  Izvršene transakcije se ne skraćuju dok se ne kreiraju rezervne kopije -  Omogućeno je kreiranje potpunih, diferencijalnih i rez. kopija logova – moguć je point-in-time  oporavak</vt:lpstr>
      <vt:lpstr>03.01 Full Recovery Model – restore sequence </vt:lpstr>
      <vt:lpstr>03.02 Simple Recovery Model -  Omogućeno je kreiranje potpune i diferencijalne rezervne kopije, ne i kopije loga. -  Sve potvrđene transakcije se uklanjaju iz loga nakon kreiranja checkpoint-a.</vt:lpstr>
      <vt:lpstr>03.02 Simple Recovery Model – restore sequence</vt:lpstr>
      <vt:lpstr>03.03 Bulk-logged Recovery Model -  Neke operacije se loguju minimalno, zbog poboljšanja performansi -  Identičan modelu potpunog oporavka</vt:lpstr>
      <vt:lpstr>03.03 Bulk-logged Recovery Model</vt:lpstr>
      <vt:lpstr>03.04 Restore  sekvenca – primer -  Potpune rezervne kopije se kreiraju jednom nedeljno, diferencijalne na šest sati, a rezervne kopije loga na jedan sat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04 Zaključak</vt:lpstr>
      <vt:lpstr>Hvala na pažnji!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Fizičko projektovanje baze i optimizacija podataka</dc:title>
  <dc:creator>Petrovic Sofija</dc:creator>
  <cp:lastModifiedBy>Petrovic Sofija</cp:lastModifiedBy>
  <cp:revision>56</cp:revision>
  <dcterms:modified xsi:type="dcterms:W3CDTF">2021-05-22T10:54:07Z</dcterms:modified>
</cp:coreProperties>
</file>